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Lst>
  <p:sldSz cx="18288000" cy="10287000"/>
  <p:notesSz cx="6858000" cy="9144000"/>
  <p:embeddedFontLst>
    <p:embeddedFont>
      <p:font typeface="TT Norms" charset="1" panose="02000503030000020003"/>
      <p:regular r:id="rId11"/>
    </p:embeddedFont>
    <p:embeddedFont>
      <p:font typeface="TT Norms Bold" charset="1" panose="02000803030000020004"/>
      <p:regular r:id="rId1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fonts/font11.fntdata" Type="http://schemas.openxmlformats.org/officeDocument/2006/relationships/font"/><Relationship Id="rId12" Target="fonts/font12.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svg" Type="http://schemas.openxmlformats.org/officeDocument/2006/relationships/image"/><Relationship Id="rId2" Target="../media/image1.pn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 Id="rId7" Target="../media/image6.png" Type="http://schemas.openxmlformats.org/officeDocument/2006/relationships/image"/><Relationship Id="rId8" Target="../media/image7.svg" Type="http://schemas.openxmlformats.org/officeDocument/2006/relationships/image"/><Relationship Id="rId9" Target="../media/image8.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 Id="rId3" Target="../media/image7.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 Id="rId3" Target="../media/image7.svg" Type="http://schemas.openxmlformats.org/officeDocument/2006/relationships/image"/><Relationship Id="rId4" Target="../media/image1.png" Type="http://schemas.openxmlformats.org/officeDocument/2006/relationships/image"/><Relationship Id="rId5" Target="../media/image10.png" Type="http://schemas.openxmlformats.org/officeDocument/2006/relationships/image"/><Relationship Id="rId6" Target="../media/image11.svg" Type="http://schemas.openxmlformats.org/officeDocument/2006/relationships/image"/><Relationship Id="rId7" Target="../media/image8.png" Type="http://schemas.openxmlformats.org/officeDocument/2006/relationships/image"/><Relationship Id="rId8" Target="../media/image9.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 Id="rId3" Target="../media/image7.svg" Type="http://schemas.openxmlformats.org/officeDocument/2006/relationships/image"/><Relationship Id="rId4" Target="../media/image1.png" Type="http://schemas.openxmlformats.org/officeDocument/2006/relationships/image"/><Relationship Id="rId5" Target="../media/image12.jpeg" Type="http://schemas.openxmlformats.org/officeDocument/2006/relationships/image"/><Relationship Id="rId6" Target="../media/image8.png" Type="http://schemas.openxmlformats.org/officeDocument/2006/relationships/image"/><Relationship Id="rId7" Target="../media/image9.svg" Type="http://schemas.openxmlformats.org/officeDocument/2006/relationships/image"/><Relationship Id="rId8" Target="../media/image13.png" Type="http://schemas.openxmlformats.org/officeDocument/2006/relationships/image"/><Relationship Id="rId9" Target="../media/image14.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 Id="rId3" Target="../media/image7.svg" Type="http://schemas.openxmlformats.org/officeDocument/2006/relationships/image"/><Relationship Id="rId4" Target="../media/image1.png" Type="http://schemas.openxmlformats.org/officeDocument/2006/relationships/image"/><Relationship Id="rId5" Target="../media/image15.png" Type="http://schemas.openxmlformats.org/officeDocument/2006/relationships/image"/><Relationship Id="rId6" Target="../media/image16.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1F5353"/>
        </a:solidFill>
      </p:bgPr>
    </p:bg>
    <p:spTree>
      <p:nvGrpSpPr>
        <p:cNvPr id="1" name=""/>
        <p:cNvGrpSpPr/>
        <p:nvPr/>
      </p:nvGrpSpPr>
      <p:grpSpPr>
        <a:xfrm>
          <a:off x="0" y="0"/>
          <a:ext cx="0" cy="0"/>
          <a:chOff x="0" y="0"/>
          <a:chExt cx="0" cy="0"/>
        </a:xfrm>
      </p:grpSpPr>
      <p:sp>
        <p:nvSpPr>
          <p:cNvPr name="Freeform 2" id="2"/>
          <p:cNvSpPr/>
          <p:nvPr/>
        </p:nvSpPr>
        <p:spPr>
          <a:xfrm flipH="false" flipV="false" rot="0">
            <a:off x="-1749433" y="5775025"/>
            <a:ext cx="20461501" cy="7477748"/>
          </a:xfrm>
          <a:custGeom>
            <a:avLst/>
            <a:gdLst/>
            <a:ahLst/>
            <a:cxnLst/>
            <a:rect r="r" b="b" t="t" l="l"/>
            <a:pathLst>
              <a:path h="7477748" w="20461501">
                <a:moveTo>
                  <a:pt x="0" y="0"/>
                </a:moveTo>
                <a:lnTo>
                  <a:pt x="20461500" y="0"/>
                </a:lnTo>
                <a:lnTo>
                  <a:pt x="20461500" y="7477748"/>
                </a:lnTo>
                <a:lnTo>
                  <a:pt x="0" y="7477748"/>
                </a:lnTo>
                <a:lnTo>
                  <a:pt x="0" y="0"/>
                </a:lnTo>
                <a:close/>
              </a:path>
            </a:pathLst>
          </a:custGeom>
          <a:blipFill>
            <a:blip r:embed="rId2"/>
            <a:stretch>
              <a:fillRect l="0" t="0" r="0" b="0"/>
            </a:stretch>
          </a:blipFill>
        </p:spPr>
      </p:sp>
      <p:sp>
        <p:nvSpPr>
          <p:cNvPr name="Freeform 3" id="3"/>
          <p:cNvSpPr/>
          <p:nvPr/>
        </p:nvSpPr>
        <p:spPr>
          <a:xfrm flipH="false" flipV="false" rot="0">
            <a:off x="1028700" y="2395880"/>
            <a:ext cx="9411854" cy="5835491"/>
          </a:xfrm>
          <a:custGeom>
            <a:avLst/>
            <a:gdLst/>
            <a:ahLst/>
            <a:cxnLst/>
            <a:rect r="r" b="b" t="t" l="l"/>
            <a:pathLst>
              <a:path h="5835491" w="9411854">
                <a:moveTo>
                  <a:pt x="0" y="0"/>
                </a:moveTo>
                <a:lnTo>
                  <a:pt x="9411854" y="0"/>
                </a:lnTo>
                <a:lnTo>
                  <a:pt x="9411854" y="5835492"/>
                </a:lnTo>
                <a:lnTo>
                  <a:pt x="0" y="583549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11198084" y="2124078"/>
            <a:ext cx="735531" cy="543604"/>
          </a:xfrm>
          <a:custGeom>
            <a:avLst/>
            <a:gdLst/>
            <a:ahLst/>
            <a:cxnLst/>
            <a:rect r="r" b="b" t="t" l="l"/>
            <a:pathLst>
              <a:path h="543604" w="735531">
                <a:moveTo>
                  <a:pt x="0" y="0"/>
                </a:moveTo>
                <a:lnTo>
                  <a:pt x="735532" y="0"/>
                </a:lnTo>
                <a:lnTo>
                  <a:pt x="735532" y="543605"/>
                </a:lnTo>
                <a:lnTo>
                  <a:pt x="0" y="543605"/>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5" id="5"/>
          <p:cNvSpPr/>
          <p:nvPr/>
        </p:nvSpPr>
        <p:spPr>
          <a:xfrm flipH="false" flipV="false" rot="0">
            <a:off x="14978075" y="846268"/>
            <a:ext cx="637065" cy="364865"/>
          </a:xfrm>
          <a:custGeom>
            <a:avLst/>
            <a:gdLst/>
            <a:ahLst/>
            <a:cxnLst/>
            <a:rect r="r" b="b" t="t" l="l"/>
            <a:pathLst>
              <a:path h="364865" w="637065">
                <a:moveTo>
                  <a:pt x="0" y="0"/>
                </a:moveTo>
                <a:lnTo>
                  <a:pt x="637066" y="0"/>
                </a:lnTo>
                <a:lnTo>
                  <a:pt x="637066" y="364864"/>
                </a:lnTo>
                <a:lnTo>
                  <a:pt x="0" y="364864"/>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6" id="6"/>
          <p:cNvSpPr/>
          <p:nvPr/>
        </p:nvSpPr>
        <p:spPr>
          <a:xfrm flipH="false" flipV="false" rot="0">
            <a:off x="282573" y="1538449"/>
            <a:ext cx="4705927" cy="2626763"/>
          </a:xfrm>
          <a:custGeom>
            <a:avLst/>
            <a:gdLst/>
            <a:ahLst/>
            <a:cxnLst/>
            <a:rect r="r" b="b" t="t" l="l"/>
            <a:pathLst>
              <a:path h="2626763" w="4705927">
                <a:moveTo>
                  <a:pt x="0" y="0"/>
                </a:moveTo>
                <a:lnTo>
                  <a:pt x="4705927" y="0"/>
                </a:lnTo>
                <a:lnTo>
                  <a:pt x="4705927" y="2626763"/>
                </a:lnTo>
                <a:lnTo>
                  <a:pt x="0" y="2626763"/>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TextBox 7" id="7"/>
          <p:cNvSpPr txBox="true"/>
          <p:nvPr/>
        </p:nvSpPr>
        <p:spPr>
          <a:xfrm rot="0">
            <a:off x="11071084" y="3405503"/>
            <a:ext cx="5778547" cy="4476479"/>
          </a:xfrm>
          <a:prstGeom prst="rect">
            <a:avLst/>
          </a:prstGeom>
        </p:spPr>
        <p:txBody>
          <a:bodyPr anchor="t" rtlCol="false" tIns="0" lIns="0" bIns="0" rIns="0">
            <a:spAutoFit/>
          </a:bodyPr>
          <a:lstStyle/>
          <a:p>
            <a:pPr algn="l">
              <a:lnSpc>
                <a:spcPts val="11550"/>
              </a:lnSpc>
            </a:pPr>
            <a:r>
              <a:rPr lang="en-US" sz="11436">
                <a:solidFill>
                  <a:srgbClr val="FFFFFF"/>
                </a:solidFill>
                <a:latin typeface="TT Norms"/>
                <a:ea typeface="TT Norms"/>
                <a:cs typeface="TT Norms"/>
                <a:sym typeface="TT Norms"/>
              </a:rPr>
              <a:t>Supply </a:t>
            </a:r>
          </a:p>
          <a:p>
            <a:pPr algn="l">
              <a:lnSpc>
                <a:spcPts val="11550"/>
              </a:lnSpc>
            </a:pPr>
            <a:r>
              <a:rPr lang="en-US" sz="11436">
                <a:solidFill>
                  <a:srgbClr val="FFFFFF"/>
                </a:solidFill>
                <a:latin typeface="TT Norms"/>
                <a:ea typeface="TT Norms"/>
                <a:cs typeface="TT Norms"/>
                <a:sym typeface="TT Norms"/>
              </a:rPr>
              <a:t>chain</a:t>
            </a:r>
          </a:p>
          <a:p>
            <a:pPr algn="l">
              <a:lnSpc>
                <a:spcPts val="11550"/>
              </a:lnSpc>
            </a:pPr>
          </a:p>
        </p:txBody>
      </p:sp>
      <p:sp>
        <p:nvSpPr>
          <p:cNvPr name="TextBox 8" id="8"/>
          <p:cNvSpPr txBox="true"/>
          <p:nvPr/>
        </p:nvSpPr>
        <p:spPr>
          <a:xfrm rot="0">
            <a:off x="11071084" y="6268978"/>
            <a:ext cx="5778547" cy="1542796"/>
          </a:xfrm>
          <a:prstGeom prst="rect">
            <a:avLst/>
          </a:prstGeom>
        </p:spPr>
        <p:txBody>
          <a:bodyPr anchor="t" rtlCol="false" tIns="0" lIns="0" bIns="0" rIns="0">
            <a:spAutoFit/>
          </a:bodyPr>
          <a:lstStyle/>
          <a:p>
            <a:pPr algn="l">
              <a:lnSpc>
                <a:spcPts val="11550"/>
              </a:lnSpc>
            </a:pPr>
            <a:r>
              <a:rPr lang="en-US" sz="11436" b="true">
                <a:solidFill>
                  <a:srgbClr val="FFFFFF"/>
                </a:solidFill>
                <a:latin typeface="TT Norms Bold"/>
                <a:ea typeface="TT Norms Bold"/>
                <a:cs typeface="TT Norms Bold"/>
                <a:sym typeface="TT Norms Bold"/>
              </a:rPr>
              <a:t>Insights</a:t>
            </a:r>
          </a:p>
        </p:txBody>
      </p:sp>
      <p:sp>
        <p:nvSpPr>
          <p:cNvPr name="TextBox 9" id="9"/>
          <p:cNvSpPr txBox="true"/>
          <p:nvPr/>
        </p:nvSpPr>
        <p:spPr>
          <a:xfrm rot="0">
            <a:off x="11933616" y="2495602"/>
            <a:ext cx="2762273" cy="391786"/>
          </a:xfrm>
          <a:prstGeom prst="rect">
            <a:avLst/>
          </a:prstGeom>
        </p:spPr>
        <p:txBody>
          <a:bodyPr anchor="t" rtlCol="false" tIns="0" lIns="0" bIns="0" rIns="0">
            <a:spAutoFit/>
          </a:bodyPr>
          <a:lstStyle/>
          <a:p>
            <a:pPr algn="l">
              <a:lnSpc>
                <a:spcPts val="2912"/>
              </a:lnSpc>
            </a:pPr>
            <a:r>
              <a:rPr lang="en-US" sz="2883">
                <a:solidFill>
                  <a:srgbClr val="FFFFFF"/>
                </a:solidFill>
                <a:latin typeface="TT Norms"/>
                <a:ea typeface="TT Norms"/>
                <a:cs typeface="TT Norms"/>
                <a:sym typeface="TT Norms"/>
              </a:rPr>
              <a:t>Team 2</a:t>
            </a:r>
          </a:p>
        </p:txBody>
      </p:sp>
      <p:sp>
        <p:nvSpPr>
          <p:cNvPr name="TextBox 10" id="10"/>
          <p:cNvSpPr txBox="true"/>
          <p:nvPr/>
        </p:nvSpPr>
        <p:spPr>
          <a:xfrm rot="0">
            <a:off x="15935932" y="924554"/>
            <a:ext cx="1522880" cy="246391"/>
          </a:xfrm>
          <a:prstGeom prst="rect">
            <a:avLst/>
          </a:prstGeom>
        </p:spPr>
        <p:txBody>
          <a:bodyPr anchor="t" rtlCol="false" tIns="0" lIns="0" bIns="0" rIns="0">
            <a:spAutoFit/>
          </a:bodyPr>
          <a:lstStyle/>
          <a:p>
            <a:pPr algn="l">
              <a:lnSpc>
                <a:spcPts val="1885"/>
              </a:lnSpc>
            </a:pPr>
            <a:r>
              <a:rPr lang="en-US" sz="1866">
                <a:solidFill>
                  <a:srgbClr val="FFFFFF"/>
                </a:solidFill>
                <a:latin typeface="TT Norms"/>
                <a:ea typeface="TT Norms"/>
                <a:cs typeface="TT Norms"/>
                <a:sym typeface="TT Norms"/>
              </a:rPr>
              <a:t>Page 001</a:t>
            </a:r>
          </a:p>
        </p:txBody>
      </p:sp>
      <p:sp>
        <p:nvSpPr>
          <p:cNvPr name="Freeform 11" id="11"/>
          <p:cNvSpPr/>
          <p:nvPr/>
        </p:nvSpPr>
        <p:spPr>
          <a:xfrm flipH="false" flipV="false" rot="0">
            <a:off x="5880114" y="4659483"/>
            <a:ext cx="4705927" cy="2626763"/>
          </a:xfrm>
          <a:custGeom>
            <a:avLst/>
            <a:gdLst/>
            <a:ahLst/>
            <a:cxnLst/>
            <a:rect r="r" b="b" t="t" l="l"/>
            <a:pathLst>
              <a:path h="2626763" w="4705927">
                <a:moveTo>
                  <a:pt x="0" y="0"/>
                </a:moveTo>
                <a:lnTo>
                  <a:pt x="4705927" y="0"/>
                </a:lnTo>
                <a:lnTo>
                  <a:pt x="4705927" y="2626763"/>
                </a:lnTo>
                <a:lnTo>
                  <a:pt x="0" y="2626763"/>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1F5353"/>
        </a:solidFill>
      </p:bgPr>
    </p:bg>
    <p:spTree>
      <p:nvGrpSpPr>
        <p:cNvPr id="1" name=""/>
        <p:cNvGrpSpPr/>
        <p:nvPr/>
      </p:nvGrpSpPr>
      <p:grpSpPr>
        <a:xfrm>
          <a:off x="0" y="0"/>
          <a:ext cx="0" cy="0"/>
          <a:chOff x="0" y="0"/>
          <a:chExt cx="0" cy="0"/>
        </a:xfrm>
      </p:grpSpPr>
      <p:sp>
        <p:nvSpPr>
          <p:cNvPr name="Freeform 2" id="2"/>
          <p:cNvSpPr/>
          <p:nvPr/>
        </p:nvSpPr>
        <p:spPr>
          <a:xfrm flipH="false" flipV="false" rot="0">
            <a:off x="15017249" y="846268"/>
            <a:ext cx="637065" cy="364865"/>
          </a:xfrm>
          <a:custGeom>
            <a:avLst/>
            <a:gdLst/>
            <a:ahLst/>
            <a:cxnLst/>
            <a:rect r="r" b="b" t="t" l="l"/>
            <a:pathLst>
              <a:path h="364865" w="637065">
                <a:moveTo>
                  <a:pt x="0" y="0"/>
                </a:moveTo>
                <a:lnTo>
                  <a:pt x="637065" y="0"/>
                </a:lnTo>
                <a:lnTo>
                  <a:pt x="637065" y="364864"/>
                </a:lnTo>
                <a:lnTo>
                  <a:pt x="0" y="36486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15935932" y="924554"/>
            <a:ext cx="1522880" cy="246391"/>
          </a:xfrm>
          <a:prstGeom prst="rect">
            <a:avLst/>
          </a:prstGeom>
        </p:spPr>
        <p:txBody>
          <a:bodyPr anchor="t" rtlCol="false" tIns="0" lIns="0" bIns="0" rIns="0">
            <a:spAutoFit/>
          </a:bodyPr>
          <a:lstStyle/>
          <a:p>
            <a:pPr algn="l">
              <a:lnSpc>
                <a:spcPts val="1885"/>
              </a:lnSpc>
            </a:pPr>
            <a:r>
              <a:rPr lang="en-US" sz="1866">
                <a:solidFill>
                  <a:srgbClr val="FFFFFF"/>
                </a:solidFill>
                <a:latin typeface="TT Norms"/>
                <a:ea typeface="TT Norms"/>
                <a:cs typeface="TT Norms"/>
                <a:sym typeface="TT Norms"/>
              </a:rPr>
              <a:t>Page 002</a:t>
            </a:r>
          </a:p>
        </p:txBody>
      </p:sp>
      <p:sp>
        <p:nvSpPr>
          <p:cNvPr name="TextBox 4" id="4"/>
          <p:cNvSpPr txBox="true"/>
          <p:nvPr/>
        </p:nvSpPr>
        <p:spPr>
          <a:xfrm rot="0">
            <a:off x="6164610" y="644673"/>
            <a:ext cx="5958780" cy="882354"/>
          </a:xfrm>
          <a:prstGeom prst="rect">
            <a:avLst/>
          </a:prstGeom>
        </p:spPr>
        <p:txBody>
          <a:bodyPr anchor="t" rtlCol="false" tIns="0" lIns="0" bIns="0" rIns="0">
            <a:spAutoFit/>
          </a:bodyPr>
          <a:lstStyle/>
          <a:p>
            <a:pPr algn="ctr">
              <a:lnSpc>
                <a:spcPts val="6632"/>
              </a:lnSpc>
              <a:spcBef>
                <a:spcPct val="0"/>
              </a:spcBef>
            </a:pPr>
            <a:r>
              <a:rPr lang="en-US" b="true" sz="6566">
                <a:solidFill>
                  <a:srgbClr val="FFFFFF"/>
                </a:solidFill>
                <a:latin typeface="TT Norms Bold"/>
                <a:ea typeface="TT Norms Bold"/>
                <a:cs typeface="TT Norms Bold"/>
                <a:sym typeface="TT Norms Bold"/>
              </a:rPr>
              <a:t>Team Members</a:t>
            </a:r>
          </a:p>
        </p:txBody>
      </p:sp>
      <p:sp>
        <p:nvSpPr>
          <p:cNvPr name="TextBox 5" id="5"/>
          <p:cNvSpPr txBox="true"/>
          <p:nvPr/>
        </p:nvSpPr>
        <p:spPr>
          <a:xfrm rot="0">
            <a:off x="1028700" y="2142673"/>
            <a:ext cx="6861318" cy="6709902"/>
          </a:xfrm>
          <a:prstGeom prst="rect">
            <a:avLst/>
          </a:prstGeom>
        </p:spPr>
        <p:txBody>
          <a:bodyPr anchor="t" rtlCol="false" tIns="0" lIns="0" bIns="0" rIns="0">
            <a:spAutoFit/>
          </a:bodyPr>
          <a:lstStyle/>
          <a:p>
            <a:pPr algn="l" marL="1170574" indent="-585287" lvl="1">
              <a:lnSpc>
                <a:spcPts val="10843"/>
              </a:lnSpc>
              <a:buFont typeface="Arial"/>
              <a:buChar char="•"/>
            </a:pPr>
            <a:r>
              <a:rPr lang="en-US" sz="5421">
                <a:solidFill>
                  <a:srgbClr val="FFFFFF"/>
                </a:solidFill>
                <a:latin typeface="TT Norms"/>
                <a:ea typeface="TT Norms"/>
                <a:cs typeface="TT Norms"/>
                <a:sym typeface="TT Norms"/>
              </a:rPr>
              <a:t>AlaaHassan</a:t>
            </a:r>
          </a:p>
          <a:p>
            <a:pPr algn="l" marL="1170574" indent="-585287" lvl="1">
              <a:lnSpc>
                <a:spcPts val="10843"/>
              </a:lnSpc>
              <a:buFont typeface="Arial"/>
              <a:buChar char="•"/>
            </a:pPr>
            <a:r>
              <a:rPr lang="en-US" sz="5421">
                <a:solidFill>
                  <a:srgbClr val="FFFFFF"/>
                </a:solidFill>
                <a:latin typeface="TT Norms"/>
                <a:ea typeface="TT Norms"/>
                <a:cs typeface="TT Norms"/>
                <a:sym typeface="TT Norms"/>
              </a:rPr>
              <a:t>Mariam Alaa</a:t>
            </a:r>
          </a:p>
          <a:p>
            <a:pPr algn="l" marL="1170574" indent="-585287" lvl="1">
              <a:lnSpc>
                <a:spcPts val="10843"/>
              </a:lnSpc>
              <a:buFont typeface="Arial"/>
              <a:buChar char="•"/>
            </a:pPr>
            <a:r>
              <a:rPr lang="en-US" sz="5421">
                <a:solidFill>
                  <a:srgbClr val="FFFFFF"/>
                </a:solidFill>
                <a:latin typeface="TT Norms"/>
                <a:ea typeface="TT Norms"/>
                <a:cs typeface="TT Norms"/>
                <a:sym typeface="TT Norms"/>
              </a:rPr>
              <a:t>Sara Tawfik </a:t>
            </a:r>
          </a:p>
          <a:p>
            <a:pPr algn="l" marL="1170574" indent="-585287" lvl="1">
              <a:lnSpc>
                <a:spcPts val="10843"/>
              </a:lnSpc>
              <a:buFont typeface="Arial"/>
              <a:buChar char="•"/>
            </a:pPr>
            <a:r>
              <a:rPr lang="en-US" sz="5421">
                <a:solidFill>
                  <a:srgbClr val="FFFFFF"/>
                </a:solidFill>
                <a:latin typeface="TT Norms"/>
                <a:ea typeface="TT Norms"/>
                <a:cs typeface="TT Norms"/>
                <a:sym typeface="TT Norms"/>
              </a:rPr>
              <a:t>Kyrillos Nassar</a:t>
            </a:r>
          </a:p>
          <a:p>
            <a:pPr algn="l" marL="1170574" indent="-585287" lvl="1">
              <a:lnSpc>
                <a:spcPts val="10843"/>
              </a:lnSpc>
              <a:buFont typeface="Arial"/>
              <a:buChar char="•"/>
            </a:pPr>
            <a:r>
              <a:rPr lang="en-US" sz="5421">
                <a:solidFill>
                  <a:srgbClr val="FFFFFF"/>
                </a:solidFill>
                <a:latin typeface="TT Norms"/>
                <a:ea typeface="TT Norms"/>
                <a:cs typeface="TT Norms"/>
                <a:sym typeface="TT Norms"/>
              </a:rPr>
              <a:t>Marwan Ayman   </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1F5353"/>
        </a:solidFill>
      </p:bgPr>
    </p:bg>
    <p:spTree>
      <p:nvGrpSpPr>
        <p:cNvPr id="1" name=""/>
        <p:cNvGrpSpPr/>
        <p:nvPr/>
      </p:nvGrpSpPr>
      <p:grpSpPr>
        <a:xfrm>
          <a:off x="0" y="0"/>
          <a:ext cx="0" cy="0"/>
          <a:chOff x="0" y="0"/>
          <a:chExt cx="0" cy="0"/>
        </a:xfrm>
      </p:grpSpPr>
      <p:sp>
        <p:nvSpPr>
          <p:cNvPr name="Freeform 2" id="2"/>
          <p:cNvSpPr/>
          <p:nvPr/>
        </p:nvSpPr>
        <p:spPr>
          <a:xfrm flipH="false" flipV="false" rot="0">
            <a:off x="15009413" y="846268"/>
            <a:ext cx="637065" cy="364865"/>
          </a:xfrm>
          <a:custGeom>
            <a:avLst/>
            <a:gdLst/>
            <a:ahLst/>
            <a:cxnLst/>
            <a:rect r="r" b="b" t="t" l="l"/>
            <a:pathLst>
              <a:path h="364865" w="637065">
                <a:moveTo>
                  <a:pt x="0" y="0"/>
                </a:moveTo>
                <a:lnTo>
                  <a:pt x="637065" y="0"/>
                </a:lnTo>
                <a:lnTo>
                  <a:pt x="637065" y="364864"/>
                </a:lnTo>
                <a:lnTo>
                  <a:pt x="0" y="36486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false" rot="0">
            <a:off x="-1086750" y="6446038"/>
            <a:ext cx="20461501" cy="7477748"/>
          </a:xfrm>
          <a:custGeom>
            <a:avLst/>
            <a:gdLst/>
            <a:ahLst/>
            <a:cxnLst/>
            <a:rect r="r" b="b" t="t" l="l"/>
            <a:pathLst>
              <a:path h="7477748" w="20461501">
                <a:moveTo>
                  <a:pt x="20461500" y="0"/>
                </a:moveTo>
                <a:lnTo>
                  <a:pt x="0" y="0"/>
                </a:lnTo>
                <a:lnTo>
                  <a:pt x="0" y="7477748"/>
                </a:lnTo>
                <a:lnTo>
                  <a:pt x="20461500" y="7477748"/>
                </a:lnTo>
                <a:lnTo>
                  <a:pt x="20461500" y="0"/>
                </a:lnTo>
                <a:close/>
              </a:path>
            </a:pathLst>
          </a:custGeom>
          <a:blipFill>
            <a:blip r:embed="rId4">
              <a:alphaModFix amt="44999"/>
            </a:blip>
            <a:stretch>
              <a:fillRect l="0" t="0" r="0" b="0"/>
            </a:stretch>
          </a:blipFill>
        </p:spPr>
      </p:sp>
      <p:grpSp>
        <p:nvGrpSpPr>
          <p:cNvPr name="Group 4" id="4"/>
          <p:cNvGrpSpPr/>
          <p:nvPr/>
        </p:nvGrpSpPr>
        <p:grpSpPr>
          <a:xfrm rot="0">
            <a:off x="732777" y="2496449"/>
            <a:ext cx="5113757" cy="930143"/>
            <a:chOff x="0" y="0"/>
            <a:chExt cx="1146458" cy="208530"/>
          </a:xfrm>
        </p:grpSpPr>
        <p:sp>
          <p:nvSpPr>
            <p:cNvPr name="Freeform 5" id="5"/>
            <p:cNvSpPr/>
            <p:nvPr/>
          </p:nvSpPr>
          <p:spPr>
            <a:xfrm flipH="false" flipV="false" rot="0">
              <a:off x="0" y="0"/>
              <a:ext cx="1146458" cy="208530"/>
            </a:xfrm>
            <a:custGeom>
              <a:avLst/>
              <a:gdLst/>
              <a:ahLst/>
              <a:cxnLst/>
              <a:rect r="r" b="b" t="t" l="l"/>
              <a:pathLst>
                <a:path h="208530" w="1146458">
                  <a:moveTo>
                    <a:pt x="31793" y="0"/>
                  </a:moveTo>
                  <a:lnTo>
                    <a:pt x="1114666" y="0"/>
                  </a:lnTo>
                  <a:cubicBezTo>
                    <a:pt x="1123098" y="0"/>
                    <a:pt x="1131184" y="3350"/>
                    <a:pt x="1137146" y="9312"/>
                  </a:cubicBezTo>
                  <a:cubicBezTo>
                    <a:pt x="1143109" y="15274"/>
                    <a:pt x="1146458" y="23361"/>
                    <a:pt x="1146458" y="31793"/>
                  </a:cubicBezTo>
                  <a:lnTo>
                    <a:pt x="1146458" y="176737"/>
                  </a:lnTo>
                  <a:cubicBezTo>
                    <a:pt x="1146458" y="194296"/>
                    <a:pt x="1132224" y="208530"/>
                    <a:pt x="1114666" y="208530"/>
                  </a:cubicBezTo>
                  <a:lnTo>
                    <a:pt x="31793" y="208530"/>
                  </a:lnTo>
                  <a:cubicBezTo>
                    <a:pt x="23361" y="208530"/>
                    <a:pt x="15274" y="205180"/>
                    <a:pt x="9312" y="199218"/>
                  </a:cubicBezTo>
                  <a:cubicBezTo>
                    <a:pt x="3350" y="193256"/>
                    <a:pt x="0" y="185169"/>
                    <a:pt x="0" y="176737"/>
                  </a:cubicBezTo>
                  <a:lnTo>
                    <a:pt x="0" y="31793"/>
                  </a:lnTo>
                  <a:cubicBezTo>
                    <a:pt x="0" y="23361"/>
                    <a:pt x="3350" y="15274"/>
                    <a:pt x="9312" y="9312"/>
                  </a:cubicBezTo>
                  <a:cubicBezTo>
                    <a:pt x="15274" y="3350"/>
                    <a:pt x="23361" y="0"/>
                    <a:pt x="31793" y="0"/>
                  </a:cubicBezTo>
                  <a:close/>
                </a:path>
              </a:pathLst>
            </a:custGeom>
            <a:ln w="28575" cap="rnd">
              <a:solidFill>
                <a:srgbClr val="FFFFFF"/>
              </a:solidFill>
              <a:prstDash val="solid"/>
              <a:round/>
            </a:ln>
          </p:spPr>
        </p:sp>
        <p:sp>
          <p:nvSpPr>
            <p:cNvPr name="TextBox 6" id="6"/>
            <p:cNvSpPr txBox="true"/>
            <p:nvPr/>
          </p:nvSpPr>
          <p:spPr>
            <a:xfrm>
              <a:off x="0" y="38100"/>
              <a:ext cx="1146458" cy="170430"/>
            </a:xfrm>
            <a:prstGeom prst="rect">
              <a:avLst/>
            </a:prstGeom>
          </p:spPr>
          <p:txBody>
            <a:bodyPr anchor="ctr" rtlCol="false" tIns="50800" lIns="50800" bIns="50800" rIns="50800"/>
            <a:lstStyle/>
            <a:p>
              <a:pPr algn="ctr">
                <a:lnSpc>
                  <a:spcPts val="1885"/>
                </a:lnSpc>
              </a:pPr>
            </a:p>
          </p:txBody>
        </p:sp>
      </p:grpSp>
      <p:grpSp>
        <p:nvGrpSpPr>
          <p:cNvPr name="Group 7" id="7"/>
          <p:cNvGrpSpPr/>
          <p:nvPr/>
        </p:nvGrpSpPr>
        <p:grpSpPr>
          <a:xfrm rot="0">
            <a:off x="12540111" y="2496429"/>
            <a:ext cx="4719189" cy="930143"/>
            <a:chOff x="0" y="0"/>
            <a:chExt cx="1058000" cy="208530"/>
          </a:xfrm>
        </p:grpSpPr>
        <p:sp>
          <p:nvSpPr>
            <p:cNvPr name="Freeform 8" id="8"/>
            <p:cNvSpPr/>
            <p:nvPr/>
          </p:nvSpPr>
          <p:spPr>
            <a:xfrm flipH="false" flipV="false" rot="0">
              <a:off x="0" y="0"/>
              <a:ext cx="1058000" cy="208530"/>
            </a:xfrm>
            <a:custGeom>
              <a:avLst/>
              <a:gdLst/>
              <a:ahLst/>
              <a:cxnLst/>
              <a:rect r="r" b="b" t="t" l="l"/>
              <a:pathLst>
                <a:path h="208530" w="1058000">
                  <a:moveTo>
                    <a:pt x="34451" y="0"/>
                  </a:moveTo>
                  <a:lnTo>
                    <a:pt x="1023549" y="0"/>
                  </a:lnTo>
                  <a:cubicBezTo>
                    <a:pt x="1032686" y="0"/>
                    <a:pt x="1041448" y="3630"/>
                    <a:pt x="1047909" y="10090"/>
                  </a:cubicBezTo>
                  <a:cubicBezTo>
                    <a:pt x="1054370" y="16551"/>
                    <a:pt x="1058000" y="25314"/>
                    <a:pt x="1058000" y="34451"/>
                  </a:cubicBezTo>
                  <a:lnTo>
                    <a:pt x="1058000" y="174079"/>
                  </a:lnTo>
                  <a:cubicBezTo>
                    <a:pt x="1058000" y="183216"/>
                    <a:pt x="1054370" y="191979"/>
                    <a:pt x="1047909" y="198439"/>
                  </a:cubicBezTo>
                  <a:cubicBezTo>
                    <a:pt x="1041448" y="204900"/>
                    <a:pt x="1032686" y="208530"/>
                    <a:pt x="1023549" y="208530"/>
                  </a:cubicBezTo>
                  <a:lnTo>
                    <a:pt x="34451" y="208530"/>
                  </a:lnTo>
                  <a:cubicBezTo>
                    <a:pt x="25314" y="208530"/>
                    <a:pt x="16551" y="204900"/>
                    <a:pt x="10090" y="198439"/>
                  </a:cubicBezTo>
                  <a:cubicBezTo>
                    <a:pt x="3630" y="191979"/>
                    <a:pt x="0" y="183216"/>
                    <a:pt x="0" y="174079"/>
                  </a:cubicBezTo>
                  <a:lnTo>
                    <a:pt x="0" y="34451"/>
                  </a:lnTo>
                  <a:cubicBezTo>
                    <a:pt x="0" y="25314"/>
                    <a:pt x="3630" y="16551"/>
                    <a:pt x="10090" y="10090"/>
                  </a:cubicBezTo>
                  <a:cubicBezTo>
                    <a:pt x="16551" y="3630"/>
                    <a:pt x="25314" y="0"/>
                    <a:pt x="34451" y="0"/>
                  </a:cubicBezTo>
                  <a:close/>
                </a:path>
              </a:pathLst>
            </a:custGeom>
            <a:ln w="28575" cap="rnd">
              <a:solidFill>
                <a:srgbClr val="FFFFFF"/>
              </a:solidFill>
              <a:prstDash val="solid"/>
              <a:round/>
            </a:ln>
          </p:spPr>
        </p:sp>
        <p:sp>
          <p:nvSpPr>
            <p:cNvPr name="TextBox 9" id="9"/>
            <p:cNvSpPr txBox="true"/>
            <p:nvPr/>
          </p:nvSpPr>
          <p:spPr>
            <a:xfrm>
              <a:off x="0" y="38100"/>
              <a:ext cx="1058000" cy="170430"/>
            </a:xfrm>
            <a:prstGeom prst="rect">
              <a:avLst/>
            </a:prstGeom>
          </p:spPr>
          <p:txBody>
            <a:bodyPr anchor="ctr" rtlCol="false" tIns="50800" lIns="50800" bIns="50800" rIns="50800"/>
            <a:lstStyle/>
            <a:p>
              <a:pPr algn="ctr">
                <a:lnSpc>
                  <a:spcPts val="1885"/>
                </a:lnSpc>
              </a:pPr>
            </a:p>
          </p:txBody>
        </p:sp>
      </p:grpSp>
      <p:sp>
        <p:nvSpPr>
          <p:cNvPr name="Freeform 10" id="10"/>
          <p:cNvSpPr/>
          <p:nvPr/>
        </p:nvSpPr>
        <p:spPr>
          <a:xfrm flipH="false" flipV="false" rot="0">
            <a:off x="7692377" y="3426611"/>
            <a:ext cx="4622926" cy="6324898"/>
          </a:xfrm>
          <a:custGeom>
            <a:avLst/>
            <a:gdLst/>
            <a:ahLst/>
            <a:cxnLst/>
            <a:rect r="r" b="b" t="t" l="l"/>
            <a:pathLst>
              <a:path h="6324898" w="4622926">
                <a:moveTo>
                  <a:pt x="0" y="0"/>
                </a:moveTo>
                <a:lnTo>
                  <a:pt x="4622926" y="0"/>
                </a:lnTo>
                <a:lnTo>
                  <a:pt x="4622926" y="6324898"/>
                </a:lnTo>
                <a:lnTo>
                  <a:pt x="0" y="6324898"/>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11" id="11"/>
          <p:cNvSpPr txBox="true"/>
          <p:nvPr/>
        </p:nvSpPr>
        <p:spPr>
          <a:xfrm rot="0">
            <a:off x="7127886" y="543316"/>
            <a:ext cx="5662849" cy="1227385"/>
          </a:xfrm>
          <a:prstGeom prst="rect">
            <a:avLst/>
          </a:prstGeom>
        </p:spPr>
        <p:txBody>
          <a:bodyPr anchor="t" rtlCol="false" tIns="0" lIns="0" bIns="0" rIns="0">
            <a:spAutoFit/>
          </a:bodyPr>
          <a:lstStyle/>
          <a:p>
            <a:pPr algn="l">
              <a:lnSpc>
                <a:spcPts val="9239"/>
              </a:lnSpc>
            </a:pPr>
            <a:r>
              <a:rPr lang="en-US" sz="9148" b="true">
                <a:solidFill>
                  <a:srgbClr val="FFFFFF"/>
                </a:solidFill>
                <a:latin typeface="TT Norms Bold"/>
                <a:ea typeface="TT Norms Bold"/>
                <a:cs typeface="TT Norms Bold"/>
                <a:sym typeface="TT Norms Bold"/>
              </a:rPr>
              <a:t>Content</a:t>
            </a:r>
          </a:p>
        </p:txBody>
      </p:sp>
      <p:sp>
        <p:nvSpPr>
          <p:cNvPr name="TextBox 12" id="12"/>
          <p:cNvSpPr txBox="true"/>
          <p:nvPr/>
        </p:nvSpPr>
        <p:spPr>
          <a:xfrm rot="0">
            <a:off x="15935932" y="924554"/>
            <a:ext cx="1522880" cy="246391"/>
          </a:xfrm>
          <a:prstGeom prst="rect">
            <a:avLst/>
          </a:prstGeom>
        </p:spPr>
        <p:txBody>
          <a:bodyPr anchor="t" rtlCol="false" tIns="0" lIns="0" bIns="0" rIns="0">
            <a:spAutoFit/>
          </a:bodyPr>
          <a:lstStyle/>
          <a:p>
            <a:pPr algn="l">
              <a:lnSpc>
                <a:spcPts val="1885"/>
              </a:lnSpc>
            </a:pPr>
            <a:r>
              <a:rPr lang="en-US" sz="1866">
                <a:solidFill>
                  <a:srgbClr val="FFFFFF"/>
                </a:solidFill>
                <a:latin typeface="TT Norms"/>
                <a:ea typeface="TT Norms"/>
                <a:cs typeface="TT Norms"/>
                <a:sym typeface="TT Norms"/>
              </a:rPr>
              <a:t>Page 003</a:t>
            </a:r>
          </a:p>
        </p:txBody>
      </p:sp>
      <p:sp>
        <p:nvSpPr>
          <p:cNvPr name="Freeform 13" id="13"/>
          <p:cNvSpPr/>
          <p:nvPr/>
        </p:nvSpPr>
        <p:spPr>
          <a:xfrm flipH="false" flipV="false" rot="0">
            <a:off x="6377689" y="3575479"/>
            <a:ext cx="4705927" cy="2626763"/>
          </a:xfrm>
          <a:custGeom>
            <a:avLst/>
            <a:gdLst/>
            <a:ahLst/>
            <a:cxnLst/>
            <a:rect r="r" b="b" t="t" l="l"/>
            <a:pathLst>
              <a:path h="2626763" w="4705927">
                <a:moveTo>
                  <a:pt x="0" y="0"/>
                </a:moveTo>
                <a:lnTo>
                  <a:pt x="4705928" y="0"/>
                </a:lnTo>
                <a:lnTo>
                  <a:pt x="4705928" y="2626763"/>
                </a:lnTo>
                <a:lnTo>
                  <a:pt x="0" y="2626763"/>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14" id="14"/>
          <p:cNvSpPr txBox="true"/>
          <p:nvPr/>
        </p:nvSpPr>
        <p:spPr>
          <a:xfrm rot="0">
            <a:off x="1049122" y="2789477"/>
            <a:ext cx="3353933" cy="391672"/>
          </a:xfrm>
          <a:prstGeom prst="rect">
            <a:avLst/>
          </a:prstGeom>
        </p:spPr>
        <p:txBody>
          <a:bodyPr anchor="t" rtlCol="false" tIns="0" lIns="0" bIns="0" rIns="0">
            <a:spAutoFit/>
          </a:bodyPr>
          <a:lstStyle/>
          <a:p>
            <a:pPr algn="l">
              <a:lnSpc>
                <a:spcPts val="2931"/>
              </a:lnSpc>
            </a:pPr>
            <a:r>
              <a:rPr lang="en-US" sz="2902">
                <a:solidFill>
                  <a:srgbClr val="FFFFFF"/>
                </a:solidFill>
                <a:latin typeface="TT Norms"/>
                <a:ea typeface="TT Norms"/>
                <a:cs typeface="TT Norms"/>
                <a:sym typeface="TT Norms"/>
              </a:rPr>
              <a:t>Supply Chain</a:t>
            </a:r>
          </a:p>
        </p:txBody>
      </p:sp>
      <p:sp>
        <p:nvSpPr>
          <p:cNvPr name="TextBox 15" id="15"/>
          <p:cNvSpPr txBox="true"/>
          <p:nvPr/>
        </p:nvSpPr>
        <p:spPr>
          <a:xfrm rot="0">
            <a:off x="3377989" y="2789516"/>
            <a:ext cx="3336943" cy="391672"/>
          </a:xfrm>
          <a:prstGeom prst="rect">
            <a:avLst/>
          </a:prstGeom>
        </p:spPr>
        <p:txBody>
          <a:bodyPr anchor="t" rtlCol="false" tIns="0" lIns="0" bIns="0" rIns="0">
            <a:spAutoFit/>
          </a:bodyPr>
          <a:lstStyle/>
          <a:p>
            <a:pPr algn="l">
              <a:lnSpc>
                <a:spcPts val="2931"/>
              </a:lnSpc>
            </a:pPr>
            <a:r>
              <a:rPr lang="en-US" sz="2902" b="true">
                <a:solidFill>
                  <a:srgbClr val="FFFFFF"/>
                </a:solidFill>
                <a:latin typeface="TT Norms Bold"/>
                <a:ea typeface="TT Norms Bold"/>
                <a:cs typeface="TT Norms Bold"/>
                <a:sym typeface="TT Norms Bold"/>
              </a:rPr>
              <a:t> Overview</a:t>
            </a:r>
          </a:p>
        </p:txBody>
      </p:sp>
      <p:sp>
        <p:nvSpPr>
          <p:cNvPr name="TextBox 16" id="16"/>
          <p:cNvSpPr txBox="true"/>
          <p:nvPr/>
        </p:nvSpPr>
        <p:spPr>
          <a:xfrm rot="0">
            <a:off x="12906591" y="2789458"/>
            <a:ext cx="1993114" cy="391672"/>
          </a:xfrm>
          <a:prstGeom prst="rect">
            <a:avLst/>
          </a:prstGeom>
        </p:spPr>
        <p:txBody>
          <a:bodyPr anchor="t" rtlCol="false" tIns="0" lIns="0" bIns="0" rIns="0">
            <a:spAutoFit/>
          </a:bodyPr>
          <a:lstStyle/>
          <a:p>
            <a:pPr algn="l">
              <a:lnSpc>
                <a:spcPts val="2931"/>
              </a:lnSpc>
            </a:pPr>
            <a:r>
              <a:rPr lang="en-US" sz="2902">
                <a:solidFill>
                  <a:srgbClr val="FFFFFF"/>
                </a:solidFill>
                <a:latin typeface="TT Norms"/>
                <a:ea typeface="TT Norms"/>
                <a:cs typeface="TT Norms"/>
                <a:sym typeface="TT Norms"/>
              </a:rPr>
              <a:t>Dashboard</a:t>
            </a:r>
          </a:p>
        </p:txBody>
      </p:sp>
      <p:sp>
        <p:nvSpPr>
          <p:cNvPr name="TextBox 17" id="17"/>
          <p:cNvSpPr txBox="true"/>
          <p:nvPr/>
        </p:nvSpPr>
        <p:spPr>
          <a:xfrm rot="0">
            <a:off x="14991083" y="2789419"/>
            <a:ext cx="1792329" cy="391672"/>
          </a:xfrm>
          <a:prstGeom prst="rect">
            <a:avLst/>
          </a:prstGeom>
        </p:spPr>
        <p:txBody>
          <a:bodyPr anchor="t" rtlCol="false" tIns="0" lIns="0" bIns="0" rIns="0">
            <a:spAutoFit/>
          </a:bodyPr>
          <a:lstStyle/>
          <a:p>
            <a:pPr algn="l">
              <a:lnSpc>
                <a:spcPts val="2931"/>
              </a:lnSpc>
            </a:pPr>
            <a:r>
              <a:rPr lang="en-US" sz="2902" b="true">
                <a:solidFill>
                  <a:srgbClr val="FFFFFF"/>
                </a:solidFill>
                <a:latin typeface="TT Norms Bold"/>
                <a:ea typeface="TT Norms Bold"/>
                <a:cs typeface="TT Norms Bold"/>
                <a:sym typeface="TT Norms Bold"/>
              </a:rPr>
              <a:t>Analysis</a:t>
            </a:r>
          </a:p>
        </p:txBody>
      </p:sp>
      <p:sp>
        <p:nvSpPr>
          <p:cNvPr name="TextBox 18" id="18"/>
          <p:cNvSpPr txBox="true"/>
          <p:nvPr/>
        </p:nvSpPr>
        <p:spPr>
          <a:xfrm rot="0">
            <a:off x="12849761" y="4057842"/>
            <a:ext cx="4436956" cy="2545340"/>
          </a:xfrm>
          <a:prstGeom prst="rect">
            <a:avLst/>
          </a:prstGeom>
        </p:spPr>
        <p:txBody>
          <a:bodyPr anchor="t" rtlCol="false" tIns="0" lIns="0" bIns="0" rIns="0">
            <a:spAutoFit/>
          </a:bodyPr>
          <a:lstStyle/>
          <a:p>
            <a:pPr algn="l" marL="0" indent="0" lvl="0">
              <a:lnSpc>
                <a:spcPts val="2226"/>
              </a:lnSpc>
              <a:spcBef>
                <a:spcPct val="0"/>
              </a:spcBef>
            </a:pPr>
            <a:r>
              <a:rPr lang="en-US" sz="2204">
                <a:solidFill>
                  <a:srgbClr val="FFFFFF"/>
                </a:solidFill>
                <a:latin typeface="TT Norms"/>
                <a:ea typeface="TT Norms"/>
                <a:cs typeface="TT Norms"/>
                <a:sym typeface="TT Norms"/>
              </a:rPr>
              <a:t>This section focuses on analyzing the data presented in the dashboard to identify patterns, evaluate logistics performance, and support data-driven decision making. The insights help stakeholders improve operational efficiency and optimize supply chain processes.</a:t>
            </a:r>
          </a:p>
        </p:txBody>
      </p:sp>
      <p:sp>
        <p:nvSpPr>
          <p:cNvPr name="TextBox 19" id="19"/>
          <p:cNvSpPr txBox="true"/>
          <p:nvPr/>
        </p:nvSpPr>
        <p:spPr>
          <a:xfrm rot="0">
            <a:off x="1274914" y="4067367"/>
            <a:ext cx="4474215" cy="2841010"/>
          </a:xfrm>
          <a:prstGeom prst="rect">
            <a:avLst/>
          </a:prstGeom>
        </p:spPr>
        <p:txBody>
          <a:bodyPr anchor="t" rtlCol="false" tIns="0" lIns="0" bIns="0" rIns="0">
            <a:spAutoFit/>
          </a:bodyPr>
          <a:lstStyle/>
          <a:p>
            <a:pPr algn="l" marL="0" indent="0" lvl="0">
              <a:lnSpc>
                <a:spcPts val="2244"/>
              </a:lnSpc>
              <a:spcBef>
                <a:spcPct val="0"/>
              </a:spcBef>
            </a:pPr>
            <a:r>
              <a:rPr lang="en-US" sz="2222">
                <a:solidFill>
                  <a:srgbClr val="FFFFFF"/>
                </a:solidFill>
                <a:latin typeface="TT Norms"/>
                <a:ea typeface="TT Norms"/>
                <a:cs typeface="TT Norms"/>
                <a:sym typeface="TT Norms"/>
              </a:rPr>
              <a:t>This section provides a general overview of the supply chain operations and the key performance indicators used to measure efficiency. It highlights essential aspects such as inventory levels, order fulfillment, and overall operational performance to give a clear understanding of how the supply chain functions.</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1F5353"/>
        </a:solidFill>
      </p:bgPr>
    </p:bg>
    <p:spTree>
      <p:nvGrpSpPr>
        <p:cNvPr id="1" name=""/>
        <p:cNvGrpSpPr/>
        <p:nvPr/>
      </p:nvGrpSpPr>
      <p:grpSpPr>
        <a:xfrm>
          <a:off x="0" y="0"/>
          <a:ext cx="0" cy="0"/>
          <a:chOff x="0" y="0"/>
          <a:chExt cx="0" cy="0"/>
        </a:xfrm>
      </p:grpSpPr>
      <p:sp>
        <p:nvSpPr>
          <p:cNvPr name="Freeform 2" id="2"/>
          <p:cNvSpPr/>
          <p:nvPr/>
        </p:nvSpPr>
        <p:spPr>
          <a:xfrm flipH="false" flipV="false" rot="0">
            <a:off x="15045162" y="846268"/>
            <a:ext cx="637065" cy="364865"/>
          </a:xfrm>
          <a:custGeom>
            <a:avLst/>
            <a:gdLst/>
            <a:ahLst/>
            <a:cxnLst/>
            <a:rect r="r" b="b" t="t" l="l"/>
            <a:pathLst>
              <a:path h="364865" w="637065">
                <a:moveTo>
                  <a:pt x="0" y="0"/>
                </a:moveTo>
                <a:lnTo>
                  <a:pt x="637065" y="0"/>
                </a:lnTo>
                <a:lnTo>
                  <a:pt x="637065" y="364864"/>
                </a:lnTo>
                <a:lnTo>
                  <a:pt x="0" y="36486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1818269" y="2479541"/>
            <a:ext cx="3572887" cy="1142217"/>
          </a:xfrm>
          <a:prstGeom prst="rect">
            <a:avLst/>
          </a:prstGeom>
        </p:spPr>
        <p:txBody>
          <a:bodyPr anchor="t" rtlCol="false" tIns="0" lIns="0" bIns="0" rIns="0">
            <a:spAutoFit/>
          </a:bodyPr>
          <a:lstStyle/>
          <a:p>
            <a:pPr algn="l">
              <a:lnSpc>
                <a:spcPts val="8610"/>
              </a:lnSpc>
            </a:pPr>
            <a:r>
              <a:rPr lang="en-US" sz="8524">
                <a:solidFill>
                  <a:srgbClr val="FFFFFF"/>
                </a:solidFill>
                <a:latin typeface="TT Norms"/>
                <a:ea typeface="TT Norms"/>
                <a:cs typeface="TT Norms"/>
                <a:sym typeface="TT Norms"/>
              </a:rPr>
              <a:t>Project</a:t>
            </a:r>
          </a:p>
        </p:txBody>
      </p:sp>
      <p:sp>
        <p:nvSpPr>
          <p:cNvPr name="Freeform 4" id="4"/>
          <p:cNvSpPr/>
          <p:nvPr/>
        </p:nvSpPr>
        <p:spPr>
          <a:xfrm flipH="false" flipV="false" rot="0">
            <a:off x="-1324264" y="6981528"/>
            <a:ext cx="20461501" cy="7477748"/>
          </a:xfrm>
          <a:custGeom>
            <a:avLst/>
            <a:gdLst/>
            <a:ahLst/>
            <a:cxnLst/>
            <a:rect r="r" b="b" t="t" l="l"/>
            <a:pathLst>
              <a:path h="7477748" w="20461501">
                <a:moveTo>
                  <a:pt x="0" y="0"/>
                </a:moveTo>
                <a:lnTo>
                  <a:pt x="20461501" y="0"/>
                </a:lnTo>
                <a:lnTo>
                  <a:pt x="20461501" y="7477749"/>
                </a:lnTo>
                <a:lnTo>
                  <a:pt x="0" y="7477749"/>
                </a:lnTo>
                <a:lnTo>
                  <a:pt x="0" y="0"/>
                </a:lnTo>
                <a:close/>
              </a:path>
            </a:pathLst>
          </a:custGeom>
          <a:blipFill>
            <a:blip r:embed="rId4">
              <a:alphaModFix amt="44999"/>
            </a:blip>
            <a:stretch>
              <a:fillRect l="0" t="0" r="0" b="0"/>
            </a:stretch>
          </a:blipFill>
        </p:spPr>
      </p:sp>
      <p:grpSp>
        <p:nvGrpSpPr>
          <p:cNvPr name="Group 5" id="5"/>
          <p:cNvGrpSpPr/>
          <p:nvPr/>
        </p:nvGrpSpPr>
        <p:grpSpPr>
          <a:xfrm rot="0">
            <a:off x="10959438" y="2246637"/>
            <a:ext cx="5246370" cy="5659121"/>
            <a:chOff x="0" y="0"/>
            <a:chExt cx="812800" cy="876746"/>
          </a:xfrm>
        </p:grpSpPr>
        <p:sp>
          <p:nvSpPr>
            <p:cNvPr name="Freeform 6" id="6"/>
            <p:cNvSpPr/>
            <p:nvPr/>
          </p:nvSpPr>
          <p:spPr>
            <a:xfrm flipH="false" flipV="false" rot="0">
              <a:off x="0" y="0"/>
              <a:ext cx="812800" cy="876746"/>
            </a:xfrm>
            <a:custGeom>
              <a:avLst/>
              <a:gdLst/>
              <a:ahLst/>
              <a:cxnLst/>
              <a:rect r="r" b="b" t="t" l="l"/>
              <a:pathLst>
                <a:path h="876746" w="812800">
                  <a:moveTo>
                    <a:pt x="33940" y="0"/>
                  </a:moveTo>
                  <a:lnTo>
                    <a:pt x="778860" y="0"/>
                  </a:lnTo>
                  <a:cubicBezTo>
                    <a:pt x="797604" y="0"/>
                    <a:pt x="812800" y="15196"/>
                    <a:pt x="812800" y="33940"/>
                  </a:cubicBezTo>
                  <a:lnTo>
                    <a:pt x="812800" y="842806"/>
                  </a:lnTo>
                  <a:cubicBezTo>
                    <a:pt x="812800" y="861550"/>
                    <a:pt x="797604" y="876746"/>
                    <a:pt x="778860" y="876746"/>
                  </a:cubicBezTo>
                  <a:lnTo>
                    <a:pt x="33940" y="876746"/>
                  </a:lnTo>
                  <a:cubicBezTo>
                    <a:pt x="15196" y="876746"/>
                    <a:pt x="0" y="861550"/>
                    <a:pt x="0" y="842806"/>
                  </a:cubicBezTo>
                  <a:lnTo>
                    <a:pt x="0" y="33940"/>
                  </a:lnTo>
                  <a:cubicBezTo>
                    <a:pt x="0" y="15196"/>
                    <a:pt x="15196" y="0"/>
                    <a:pt x="33940" y="0"/>
                  </a:cubicBezTo>
                  <a:close/>
                </a:path>
              </a:pathLst>
            </a:custGeom>
            <a:blipFill>
              <a:blip r:embed="rId5"/>
              <a:stretch>
                <a:fillRect l="-30799" t="0" r="-30799" b="0"/>
              </a:stretch>
            </a:blipFill>
            <a:ln w="57150" cap="rnd">
              <a:solidFill>
                <a:srgbClr val="FFFFFF"/>
              </a:solidFill>
              <a:prstDash val="solid"/>
              <a:round/>
            </a:ln>
          </p:spPr>
        </p:sp>
      </p:grpSp>
      <p:sp>
        <p:nvSpPr>
          <p:cNvPr name="Freeform 7" id="7"/>
          <p:cNvSpPr/>
          <p:nvPr/>
        </p:nvSpPr>
        <p:spPr>
          <a:xfrm flipH="false" flipV="false" rot="0">
            <a:off x="7190385" y="7318542"/>
            <a:ext cx="4705927" cy="2626763"/>
          </a:xfrm>
          <a:custGeom>
            <a:avLst/>
            <a:gdLst/>
            <a:ahLst/>
            <a:cxnLst/>
            <a:rect r="r" b="b" t="t" l="l"/>
            <a:pathLst>
              <a:path h="2626763" w="4705927">
                <a:moveTo>
                  <a:pt x="0" y="0"/>
                </a:moveTo>
                <a:lnTo>
                  <a:pt x="4705927" y="0"/>
                </a:lnTo>
                <a:lnTo>
                  <a:pt x="4705927" y="2626763"/>
                </a:lnTo>
                <a:lnTo>
                  <a:pt x="0" y="2626763"/>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8" id="8"/>
          <p:cNvSpPr txBox="true"/>
          <p:nvPr/>
        </p:nvSpPr>
        <p:spPr>
          <a:xfrm rot="0">
            <a:off x="5565721" y="2479541"/>
            <a:ext cx="5864258" cy="1142217"/>
          </a:xfrm>
          <a:prstGeom prst="rect">
            <a:avLst/>
          </a:prstGeom>
        </p:spPr>
        <p:txBody>
          <a:bodyPr anchor="t" rtlCol="false" tIns="0" lIns="0" bIns="0" rIns="0">
            <a:spAutoFit/>
          </a:bodyPr>
          <a:lstStyle/>
          <a:p>
            <a:pPr algn="l">
              <a:lnSpc>
                <a:spcPts val="8610"/>
              </a:lnSpc>
            </a:pPr>
            <a:r>
              <a:rPr lang="en-US" sz="8524" b="true">
                <a:solidFill>
                  <a:srgbClr val="FFFFFF"/>
                </a:solidFill>
                <a:latin typeface="TT Norms Bold"/>
                <a:ea typeface="TT Norms Bold"/>
                <a:cs typeface="TT Norms Bold"/>
                <a:sym typeface="TT Norms Bold"/>
              </a:rPr>
              <a:t>Overview </a:t>
            </a:r>
          </a:p>
        </p:txBody>
      </p:sp>
      <p:sp>
        <p:nvSpPr>
          <p:cNvPr name="TextBox 9" id="9"/>
          <p:cNvSpPr txBox="true"/>
          <p:nvPr/>
        </p:nvSpPr>
        <p:spPr>
          <a:xfrm rot="0">
            <a:off x="15935932" y="924554"/>
            <a:ext cx="1522880" cy="246391"/>
          </a:xfrm>
          <a:prstGeom prst="rect">
            <a:avLst/>
          </a:prstGeom>
        </p:spPr>
        <p:txBody>
          <a:bodyPr anchor="t" rtlCol="false" tIns="0" lIns="0" bIns="0" rIns="0">
            <a:spAutoFit/>
          </a:bodyPr>
          <a:lstStyle/>
          <a:p>
            <a:pPr algn="l">
              <a:lnSpc>
                <a:spcPts val="1885"/>
              </a:lnSpc>
            </a:pPr>
            <a:r>
              <a:rPr lang="en-US" sz="1866">
                <a:solidFill>
                  <a:srgbClr val="FFFFFF"/>
                </a:solidFill>
                <a:latin typeface="TT Norms"/>
                <a:ea typeface="TT Norms"/>
                <a:cs typeface="TT Norms"/>
                <a:sym typeface="TT Norms"/>
              </a:rPr>
              <a:t>Page 004</a:t>
            </a:r>
          </a:p>
        </p:txBody>
      </p:sp>
      <p:sp>
        <p:nvSpPr>
          <p:cNvPr name="TextBox 10" id="10"/>
          <p:cNvSpPr txBox="true"/>
          <p:nvPr/>
        </p:nvSpPr>
        <p:spPr>
          <a:xfrm rot="0">
            <a:off x="1849893" y="4103231"/>
            <a:ext cx="7494904" cy="1547583"/>
          </a:xfrm>
          <a:prstGeom prst="rect">
            <a:avLst/>
          </a:prstGeom>
        </p:spPr>
        <p:txBody>
          <a:bodyPr anchor="t" rtlCol="false" tIns="0" lIns="0" bIns="0" rIns="0">
            <a:spAutoFit/>
          </a:bodyPr>
          <a:lstStyle/>
          <a:p>
            <a:pPr algn="just">
              <a:lnSpc>
                <a:spcPts val="1784"/>
              </a:lnSpc>
            </a:pPr>
            <a:r>
              <a:rPr lang="en-US" sz="1766">
                <a:solidFill>
                  <a:srgbClr val="FFFFFF"/>
                </a:solidFill>
                <a:latin typeface="TT Norms"/>
                <a:ea typeface="TT Norms"/>
                <a:cs typeface="TT Norms"/>
                <a:sym typeface="TT Norms"/>
              </a:rPr>
              <a:t>This project presents a supply chain dashboard designed to provide a comprehensive overview of key operational activities and performance indicators across the supply chain process. The dashboard integrates and visualizes data related to inventory management, order fulfillment, transportation, and overall logistics performance. By organizing this information into clear and interactive visuals, it allows users to quickly understand how different parts of the supply chain are performing.</a:t>
            </a:r>
          </a:p>
        </p:txBody>
      </p:sp>
      <p:sp>
        <p:nvSpPr>
          <p:cNvPr name="TextBox 11" id="11"/>
          <p:cNvSpPr txBox="true"/>
          <p:nvPr/>
        </p:nvSpPr>
        <p:spPr>
          <a:xfrm rot="0">
            <a:off x="1818269" y="6138836"/>
            <a:ext cx="7494904" cy="1766658"/>
          </a:xfrm>
          <a:prstGeom prst="rect">
            <a:avLst/>
          </a:prstGeom>
        </p:spPr>
        <p:txBody>
          <a:bodyPr anchor="t" rtlCol="false" tIns="0" lIns="0" bIns="0" rIns="0">
            <a:spAutoFit/>
          </a:bodyPr>
          <a:lstStyle/>
          <a:p>
            <a:pPr algn="just">
              <a:lnSpc>
                <a:spcPts val="1784"/>
              </a:lnSpc>
            </a:pPr>
            <a:r>
              <a:rPr lang="en-US" sz="1766">
                <a:solidFill>
                  <a:srgbClr val="FFFFFF"/>
                </a:solidFill>
                <a:latin typeface="TT Norms"/>
                <a:ea typeface="TT Norms"/>
                <a:cs typeface="TT Norms"/>
                <a:sym typeface="TT Norms"/>
              </a:rPr>
              <a:t>The dashboard aims to support better monitoring and analysis of supply chain operations by highlighting important trends, patterns, and performance metrics. Through these insights, users can identify potential inefficiencies, evaluate operational performance, and gain a deeper understanding of supply chain dynamics. Overall, the project demonstrates how data visualization can transform complex operational data into meaningful insights that help support more informed and strategic decision-making.</a:t>
            </a:r>
          </a:p>
        </p:txBody>
      </p:sp>
      <p:sp>
        <p:nvSpPr>
          <p:cNvPr name="Freeform 12" id="12"/>
          <p:cNvSpPr/>
          <p:nvPr/>
        </p:nvSpPr>
        <p:spPr>
          <a:xfrm flipH="false" flipV="false" rot="0">
            <a:off x="14188163" y="4816480"/>
            <a:ext cx="4099837" cy="4114800"/>
          </a:xfrm>
          <a:custGeom>
            <a:avLst/>
            <a:gdLst/>
            <a:ahLst/>
            <a:cxnLst/>
            <a:rect r="r" b="b" t="t" l="l"/>
            <a:pathLst>
              <a:path h="4114800" w="4099837">
                <a:moveTo>
                  <a:pt x="0" y="0"/>
                </a:moveTo>
                <a:lnTo>
                  <a:pt x="4099837" y="0"/>
                </a:lnTo>
                <a:lnTo>
                  <a:pt x="4099837" y="4114800"/>
                </a:lnTo>
                <a:lnTo>
                  <a:pt x="0" y="411480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1F5353"/>
        </a:solidFill>
      </p:bgPr>
    </p:bg>
    <p:spTree>
      <p:nvGrpSpPr>
        <p:cNvPr id="1" name=""/>
        <p:cNvGrpSpPr/>
        <p:nvPr/>
      </p:nvGrpSpPr>
      <p:grpSpPr>
        <a:xfrm>
          <a:off x="0" y="0"/>
          <a:ext cx="0" cy="0"/>
          <a:chOff x="0" y="0"/>
          <a:chExt cx="0" cy="0"/>
        </a:xfrm>
      </p:grpSpPr>
      <p:sp>
        <p:nvSpPr>
          <p:cNvPr name="Freeform 2" id="2"/>
          <p:cNvSpPr/>
          <p:nvPr/>
        </p:nvSpPr>
        <p:spPr>
          <a:xfrm flipH="false" flipV="false" rot="0">
            <a:off x="14976665" y="846268"/>
            <a:ext cx="637065" cy="364865"/>
          </a:xfrm>
          <a:custGeom>
            <a:avLst/>
            <a:gdLst/>
            <a:ahLst/>
            <a:cxnLst/>
            <a:rect r="r" b="b" t="t" l="l"/>
            <a:pathLst>
              <a:path h="364865" w="637065">
                <a:moveTo>
                  <a:pt x="0" y="0"/>
                </a:moveTo>
                <a:lnTo>
                  <a:pt x="637066" y="0"/>
                </a:lnTo>
                <a:lnTo>
                  <a:pt x="637066" y="364864"/>
                </a:lnTo>
                <a:lnTo>
                  <a:pt x="0" y="36486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086750" y="5686886"/>
            <a:ext cx="20461501" cy="7477748"/>
          </a:xfrm>
          <a:custGeom>
            <a:avLst/>
            <a:gdLst/>
            <a:ahLst/>
            <a:cxnLst/>
            <a:rect r="r" b="b" t="t" l="l"/>
            <a:pathLst>
              <a:path h="7477748" w="20461501">
                <a:moveTo>
                  <a:pt x="0" y="0"/>
                </a:moveTo>
                <a:lnTo>
                  <a:pt x="20461500" y="0"/>
                </a:lnTo>
                <a:lnTo>
                  <a:pt x="20461500" y="7477748"/>
                </a:lnTo>
                <a:lnTo>
                  <a:pt x="0" y="7477748"/>
                </a:lnTo>
                <a:lnTo>
                  <a:pt x="0" y="0"/>
                </a:lnTo>
                <a:close/>
              </a:path>
            </a:pathLst>
          </a:custGeom>
          <a:blipFill>
            <a:blip r:embed="rId4">
              <a:alphaModFix amt="44999"/>
            </a:blip>
            <a:stretch>
              <a:fillRect l="0" t="0" r="0" b="0"/>
            </a:stretch>
          </a:blipFill>
        </p:spPr>
      </p:sp>
      <p:sp>
        <p:nvSpPr>
          <p:cNvPr name="Freeform 4" id="4"/>
          <p:cNvSpPr/>
          <p:nvPr/>
        </p:nvSpPr>
        <p:spPr>
          <a:xfrm flipH="false" flipV="false" rot="0">
            <a:off x="1818269" y="4966464"/>
            <a:ext cx="5848383" cy="4030129"/>
          </a:xfrm>
          <a:custGeom>
            <a:avLst/>
            <a:gdLst/>
            <a:ahLst/>
            <a:cxnLst/>
            <a:rect r="r" b="b" t="t" l="l"/>
            <a:pathLst>
              <a:path h="4030129" w="5848383">
                <a:moveTo>
                  <a:pt x="0" y="0"/>
                </a:moveTo>
                <a:lnTo>
                  <a:pt x="5848383" y="0"/>
                </a:lnTo>
                <a:lnTo>
                  <a:pt x="5848383" y="4030129"/>
                </a:lnTo>
                <a:lnTo>
                  <a:pt x="0" y="4030129"/>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5" id="5"/>
          <p:cNvSpPr txBox="true"/>
          <p:nvPr/>
        </p:nvSpPr>
        <p:spPr>
          <a:xfrm rot="0">
            <a:off x="1892389" y="3369722"/>
            <a:ext cx="5700144" cy="1142217"/>
          </a:xfrm>
          <a:prstGeom prst="rect">
            <a:avLst/>
          </a:prstGeom>
        </p:spPr>
        <p:txBody>
          <a:bodyPr anchor="t" rtlCol="false" tIns="0" lIns="0" bIns="0" rIns="0">
            <a:spAutoFit/>
          </a:bodyPr>
          <a:lstStyle/>
          <a:p>
            <a:pPr algn="l">
              <a:lnSpc>
                <a:spcPts val="8610"/>
              </a:lnSpc>
            </a:pPr>
            <a:r>
              <a:rPr lang="en-US" sz="8524">
                <a:solidFill>
                  <a:srgbClr val="FFFFFF"/>
                </a:solidFill>
                <a:latin typeface="TT Norms"/>
                <a:ea typeface="TT Norms"/>
                <a:cs typeface="TT Norms"/>
                <a:sym typeface="TT Norms"/>
              </a:rPr>
              <a:t>Steps</a:t>
            </a:r>
          </a:p>
        </p:txBody>
      </p:sp>
      <p:sp>
        <p:nvSpPr>
          <p:cNvPr name="TextBox 6" id="6"/>
          <p:cNvSpPr txBox="true"/>
          <p:nvPr/>
        </p:nvSpPr>
        <p:spPr>
          <a:xfrm rot="0">
            <a:off x="1892389" y="2075079"/>
            <a:ext cx="5848383" cy="1142243"/>
          </a:xfrm>
          <a:prstGeom prst="rect">
            <a:avLst/>
          </a:prstGeom>
        </p:spPr>
        <p:txBody>
          <a:bodyPr anchor="t" rtlCol="false" tIns="0" lIns="0" bIns="0" rIns="0">
            <a:spAutoFit/>
          </a:bodyPr>
          <a:lstStyle/>
          <a:p>
            <a:pPr algn="l">
              <a:lnSpc>
                <a:spcPts val="8610"/>
              </a:lnSpc>
            </a:pPr>
            <a:r>
              <a:rPr lang="en-US" sz="8524" b="true">
                <a:solidFill>
                  <a:srgbClr val="FFFFFF"/>
                </a:solidFill>
                <a:latin typeface="TT Norms Bold"/>
                <a:ea typeface="TT Norms Bold"/>
                <a:cs typeface="TT Norms Bold"/>
                <a:sym typeface="TT Norms Bold"/>
              </a:rPr>
              <a:t>Analysis</a:t>
            </a:r>
          </a:p>
        </p:txBody>
      </p:sp>
      <p:sp>
        <p:nvSpPr>
          <p:cNvPr name="TextBox 7" id="7"/>
          <p:cNvSpPr txBox="true"/>
          <p:nvPr/>
        </p:nvSpPr>
        <p:spPr>
          <a:xfrm rot="0">
            <a:off x="15935932" y="924554"/>
            <a:ext cx="1522880" cy="246389"/>
          </a:xfrm>
          <a:prstGeom prst="rect">
            <a:avLst/>
          </a:prstGeom>
        </p:spPr>
        <p:txBody>
          <a:bodyPr anchor="t" rtlCol="false" tIns="0" lIns="0" bIns="0" rIns="0">
            <a:spAutoFit/>
          </a:bodyPr>
          <a:lstStyle/>
          <a:p>
            <a:pPr algn="l">
              <a:lnSpc>
                <a:spcPts val="1885"/>
              </a:lnSpc>
            </a:pPr>
            <a:r>
              <a:rPr lang="en-US" sz="1866">
                <a:solidFill>
                  <a:srgbClr val="FFFFFF"/>
                </a:solidFill>
                <a:latin typeface="TT Norms"/>
                <a:ea typeface="TT Norms"/>
                <a:cs typeface="TT Norms"/>
                <a:sym typeface="TT Norms"/>
              </a:rPr>
              <a:t>Page 005</a:t>
            </a:r>
          </a:p>
        </p:txBody>
      </p:sp>
      <p:grpSp>
        <p:nvGrpSpPr>
          <p:cNvPr name="Group 8" id="8"/>
          <p:cNvGrpSpPr/>
          <p:nvPr/>
        </p:nvGrpSpPr>
        <p:grpSpPr>
          <a:xfrm rot="0">
            <a:off x="9144000" y="2327141"/>
            <a:ext cx="6707244" cy="791761"/>
            <a:chOff x="0" y="0"/>
            <a:chExt cx="1766517" cy="208530"/>
          </a:xfrm>
        </p:grpSpPr>
        <p:sp>
          <p:nvSpPr>
            <p:cNvPr name="Freeform 9" id="9"/>
            <p:cNvSpPr/>
            <p:nvPr/>
          </p:nvSpPr>
          <p:spPr>
            <a:xfrm flipH="false" flipV="false" rot="0">
              <a:off x="0" y="0"/>
              <a:ext cx="1766517" cy="208530"/>
            </a:xfrm>
            <a:custGeom>
              <a:avLst/>
              <a:gdLst/>
              <a:ahLst/>
              <a:cxnLst/>
              <a:rect r="r" b="b" t="t" l="l"/>
              <a:pathLst>
                <a:path h="208530" w="1766517">
                  <a:moveTo>
                    <a:pt x="24240" y="0"/>
                  </a:moveTo>
                  <a:lnTo>
                    <a:pt x="1742278" y="0"/>
                  </a:lnTo>
                  <a:cubicBezTo>
                    <a:pt x="1748706" y="0"/>
                    <a:pt x="1754872" y="2554"/>
                    <a:pt x="1759417" y="7100"/>
                  </a:cubicBezTo>
                  <a:cubicBezTo>
                    <a:pt x="1763963" y="11645"/>
                    <a:pt x="1766517" y="17811"/>
                    <a:pt x="1766517" y="24240"/>
                  </a:cubicBezTo>
                  <a:lnTo>
                    <a:pt x="1766517" y="184290"/>
                  </a:lnTo>
                  <a:cubicBezTo>
                    <a:pt x="1766517" y="197677"/>
                    <a:pt x="1755665" y="208530"/>
                    <a:pt x="1742278" y="208530"/>
                  </a:cubicBezTo>
                  <a:lnTo>
                    <a:pt x="24240" y="208530"/>
                  </a:lnTo>
                  <a:cubicBezTo>
                    <a:pt x="10852" y="208530"/>
                    <a:pt x="0" y="197677"/>
                    <a:pt x="0" y="184290"/>
                  </a:cubicBezTo>
                  <a:lnTo>
                    <a:pt x="0" y="24240"/>
                  </a:lnTo>
                  <a:cubicBezTo>
                    <a:pt x="0" y="10852"/>
                    <a:pt x="10852" y="0"/>
                    <a:pt x="24240" y="0"/>
                  </a:cubicBezTo>
                  <a:close/>
                </a:path>
              </a:pathLst>
            </a:custGeom>
            <a:ln w="28575" cap="rnd">
              <a:solidFill>
                <a:srgbClr val="FFFFFF"/>
              </a:solidFill>
              <a:prstDash val="solid"/>
              <a:round/>
            </a:ln>
          </p:spPr>
        </p:sp>
        <p:sp>
          <p:nvSpPr>
            <p:cNvPr name="TextBox 10" id="10"/>
            <p:cNvSpPr txBox="true"/>
            <p:nvPr/>
          </p:nvSpPr>
          <p:spPr>
            <a:xfrm>
              <a:off x="0" y="38100"/>
              <a:ext cx="1766517" cy="170430"/>
            </a:xfrm>
            <a:prstGeom prst="rect">
              <a:avLst/>
            </a:prstGeom>
          </p:spPr>
          <p:txBody>
            <a:bodyPr anchor="ctr" rtlCol="false" tIns="50800" lIns="50800" bIns="50800" rIns="50800"/>
            <a:lstStyle/>
            <a:p>
              <a:pPr algn="ctr">
                <a:lnSpc>
                  <a:spcPts val="1885"/>
                </a:lnSpc>
              </a:pPr>
            </a:p>
          </p:txBody>
        </p:sp>
      </p:grpSp>
      <p:grpSp>
        <p:nvGrpSpPr>
          <p:cNvPr name="Group 11" id="11"/>
          <p:cNvGrpSpPr/>
          <p:nvPr/>
        </p:nvGrpSpPr>
        <p:grpSpPr>
          <a:xfrm rot="0">
            <a:off x="9144000" y="3445922"/>
            <a:ext cx="6707244" cy="791761"/>
            <a:chOff x="0" y="0"/>
            <a:chExt cx="1766517" cy="208530"/>
          </a:xfrm>
        </p:grpSpPr>
        <p:sp>
          <p:nvSpPr>
            <p:cNvPr name="Freeform 12" id="12"/>
            <p:cNvSpPr/>
            <p:nvPr/>
          </p:nvSpPr>
          <p:spPr>
            <a:xfrm flipH="false" flipV="false" rot="0">
              <a:off x="0" y="0"/>
              <a:ext cx="1766517" cy="208530"/>
            </a:xfrm>
            <a:custGeom>
              <a:avLst/>
              <a:gdLst/>
              <a:ahLst/>
              <a:cxnLst/>
              <a:rect r="r" b="b" t="t" l="l"/>
              <a:pathLst>
                <a:path h="208530" w="1766517">
                  <a:moveTo>
                    <a:pt x="24240" y="0"/>
                  </a:moveTo>
                  <a:lnTo>
                    <a:pt x="1742278" y="0"/>
                  </a:lnTo>
                  <a:cubicBezTo>
                    <a:pt x="1748706" y="0"/>
                    <a:pt x="1754872" y="2554"/>
                    <a:pt x="1759417" y="7100"/>
                  </a:cubicBezTo>
                  <a:cubicBezTo>
                    <a:pt x="1763963" y="11645"/>
                    <a:pt x="1766517" y="17811"/>
                    <a:pt x="1766517" y="24240"/>
                  </a:cubicBezTo>
                  <a:lnTo>
                    <a:pt x="1766517" y="184290"/>
                  </a:lnTo>
                  <a:cubicBezTo>
                    <a:pt x="1766517" y="197677"/>
                    <a:pt x="1755665" y="208530"/>
                    <a:pt x="1742278" y="208530"/>
                  </a:cubicBezTo>
                  <a:lnTo>
                    <a:pt x="24240" y="208530"/>
                  </a:lnTo>
                  <a:cubicBezTo>
                    <a:pt x="10852" y="208530"/>
                    <a:pt x="0" y="197677"/>
                    <a:pt x="0" y="184290"/>
                  </a:cubicBezTo>
                  <a:lnTo>
                    <a:pt x="0" y="24240"/>
                  </a:lnTo>
                  <a:cubicBezTo>
                    <a:pt x="0" y="10852"/>
                    <a:pt x="10852" y="0"/>
                    <a:pt x="24240" y="0"/>
                  </a:cubicBezTo>
                  <a:close/>
                </a:path>
              </a:pathLst>
            </a:custGeom>
            <a:gradFill rotWithShape="true">
              <a:gsLst>
                <a:gs pos="0">
                  <a:srgbClr val="FFFFFF">
                    <a:alpha val="0"/>
                  </a:srgbClr>
                </a:gs>
                <a:gs pos="100000">
                  <a:srgbClr val="6CB0C3">
                    <a:alpha val="100000"/>
                  </a:srgbClr>
                </a:gs>
              </a:gsLst>
              <a:lin ang="0"/>
            </a:gradFill>
            <a:ln w="28575" cap="rnd">
              <a:solidFill>
                <a:srgbClr val="FFFFFF"/>
              </a:solidFill>
              <a:prstDash val="solid"/>
              <a:round/>
            </a:ln>
          </p:spPr>
        </p:sp>
        <p:sp>
          <p:nvSpPr>
            <p:cNvPr name="TextBox 13" id="13"/>
            <p:cNvSpPr txBox="true"/>
            <p:nvPr/>
          </p:nvSpPr>
          <p:spPr>
            <a:xfrm>
              <a:off x="0" y="38100"/>
              <a:ext cx="1766517" cy="170430"/>
            </a:xfrm>
            <a:prstGeom prst="rect">
              <a:avLst/>
            </a:prstGeom>
          </p:spPr>
          <p:txBody>
            <a:bodyPr anchor="ctr" rtlCol="false" tIns="50800" lIns="50800" bIns="50800" rIns="50800"/>
            <a:lstStyle/>
            <a:p>
              <a:pPr algn="ctr">
                <a:lnSpc>
                  <a:spcPts val="1885"/>
                </a:lnSpc>
              </a:pPr>
            </a:p>
          </p:txBody>
        </p:sp>
      </p:grpSp>
      <p:grpSp>
        <p:nvGrpSpPr>
          <p:cNvPr name="Group 14" id="14"/>
          <p:cNvGrpSpPr/>
          <p:nvPr/>
        </p:nvGrpSpPr>
        <p:grpSpPr>
          <a:xfrm rot="0">
            <a:off x="9144000" y="4665693"/>
            <a:ext cx="6707244" cy="791761"/>
            <a:chOff x="0" y="0"/>
            <a:chExt cx="1766517" cy="208530"/>
          </a:xfrm>
        </p:grpSpPr>
        <p:sp>
          <p:nvSpPr>
            <p:cNvPr name="Freeform 15" id="15"/>
            <p:cNvSpPr/>
            <p:nvPr/>
          </p:nvSpPr>
          <p:spPr>
            <a:xfrm flipH="false" flipV="false" rot="0">
              <a:off x="0" y="0"/>
              <a:ext cx="1766517" cy="208530"/>
            </a:xfrm>
            <a:custGeom>
              <a:avLst/>
              <a:gdLst/>
              <a:ahLst/>
              <a:cxnLst/>
              <a:rect r="r" b="b" t="t" l="l"/>
              <a:pathLst>
                <a:path h="208530" w="1766517">
                  <a:moveTo>
                    <a:pt x="24240" y="0"/>
                  </a:moveTo>
                  <a:lnTo>
                    <a:pt x="1742278" y="0"/>
                  </a:lnTo>
                  <a:cubicBezTo>
                    <a:pt x="1748706" y="0"/>
                    <a:pt x="1754872" y="2554"/>
                    <a:pt x="1759417" y="7100"/>
                  </a:cubicBezTo>
                  <a:cubicBezTo>
                    <a:pt x="1763963" y="11645"/>
                    <a:pt x="1766517" y="17811"/>
                    <a:pt x="1766517" y="24240"/>
                  </a:cubicBezTo>
                  <a:lnTo>
                    <a:pt x="1766517" y="184290"/>
                  </a:lnTo>
                  <a:cubicBezTo>
                    <a:pt x="1766517" y="197677"/>
                    <a:pt x="1755665" y="208530"/>
                    <a:pt x="1742278" y="208530"/>
                  </a:cubicBezTo>
                  <a:lnTo>
                    <a:pt x="24240" y="208530"/>
                  </a:lnTo>
                  <a:cubicBezTo>
                    <a:pt x="10852" y="208530"/>
                    <a:pt x="0" y="197677"/>
                    <a:pt x="0" y="184290"/>
                  </a:cubicBezTo>
                  <a:lnTo>
                    <a:pt x="0" y="24240"/>
                  </a:lnTo>
                  <a:cubicBezTo>
                    <a:pt x="0" y="10852"/>
                    <a:pt x="10852" y="0"/>
                    <a:pt x="24240" y="0"/>
                  </a:cubicBezTo>
                  <a:close/>
                </a:path>
              </a:pathLst>
            </a:custGeom>
            <a:ln w="28575" cap="rnd">
              <a:solidFill>
                <a:srgbClr val="FFFFFF"/>
              </a:solidFill>
              <a:prstDash val="solid"/>
              <a:round/>
            </a:ln>
          </p:spPr>
        </p:sp>
        <p:sp>
          <p:nvSpPr>
            <p:cNvPr name="TextBox 16" id="16"/>
            <p:cNvSpPr txBox="true"/>
            <p:nvPr/>
          </p:nvSpPr>
          <p:spPr>
            <a:xfrm>
              <a:off x="0" y="38100"/>
              <a:ext cx="1766517" cy="170430"/>
            </a:xfrm>
            <a:prstGeom prst="rect">
              <a:avLst/>
            </a:prstGeom>
          </p:spPr>
          <p:txBody>
            <a:bodyPr anchor="ctr" rtlCol="false" tIns="50800" lIns="50800" bIns="50800" rIns="50800"/>
            <a:lstStyle/>
            <a:p>
              <a:pPr algn="ctr">
                <a:lnSpc>
                  <a:spcPts val="1885"/>
                </a:lnSpc>
              </a:pPr>
            </a:p>
          </p:txBody>
        </p:sp>
      </p:grpSp>
      <p:grpSp>
        <p:nvGrpSpPr>
          <p:cNvPr name="Group 17" id="17"/>
          <p:cNvGrpSpPr/>
          <p:nvPr/>
        </p:nvGrpSpPr>
        <p:grpSpPr>
          <a:xfrm rot="0">
            <a:off x="9144000" y="5784474"/>
            <a:ext cx="6707244" cy="791761"/>
            <a:chOff x="0" y="0"/>
            <a:chExt cx="1766517" cy="208530"/>
          </a:xfrm>
        </p:grpSpPr>
        <p:sp>
          <p:nvSpPr>
            <p:cNvPr name="Freeform 18" id="18"/>
            <p:cNvSpPr/>
            <p:nvPr/>
          </p:nvSpPr>
          <p:spPr>
            <a:xfrm flipH="false" flipV="false" rot="0">
              <a:off x="0" y="0"/>
              <a:ext cx="1766517" cy="208530"/>
            </a:xfrm>
            <a:custGeom>
              <a:avLst/>
              <a:gdLst/>
              <a:ahLst/>
              <a:cxnLst/>
              <a:rect r="r" b="b" t="t" l="l"/>
              <a:pathLst>
                <a:path h="208530" w="1766517">
                  <a:moveTo>
                    <a:pt x="24240" y="0"/>
                  </a:moveTo>
                  <a:lnTo>
                    <a:pt x="1742278" y="0"/>
                  </a:lnTo>
                  <a:cubicBezTo>
                    <a:pt x="1748706" y="0"/>
                    <a:pt x="1754872" y="2554"/>
                    <a:pt x="1759417" y="7100"/>
                  </a:cubicBezTo>
                  <a:cubicBezTo>
                    <a:pt x="1763963" y="11645"/>
                    <a:pt x="1766517" y="17811"/>
                    <a:pt x="1766517" y="24240"/>
                  </a:cubicBezTo>
                  <a:lnTo>
                    <a:pt x="1766517" y="184290"/>
                  </a:lnTo>
                  <a:cubicBezTo>
                    <a:pt x="1766517" y="197677"/>
                    <a:pt x="1755665" y="208530"/>
                    <a:pt x="1742278" y="208530"/>
                  </a:cubicBezTo>
                  <a:lnTo>
                    <a:pt x="24240" y="208530"/>
                  </a:lnTo>
                  <a:cubicBezTo>
                    <a:pt x="10852" y="208530"/>
                    <a:pt x="0" y="197677"/>
                    <a:pt x="0" y="184290"/>
                  </a:cubicBezTo>
                  <a:lnTo>
                    <a:pt x="0" y="24240"/>
                  </a:lnTo>
                  <a:cubicBezTo>
                    <a:pt x="0" y="10852"/>
                    <a:pt x="10852" y="0"/>
                    <a:pt x="24240" y="0"/>
                  </a:cubicBezTo>
                  <a:close/>
                </a:path>
              </a:pathLst>
            </a:custGeom>
            <a:gradFill rotWithShape="true">
              <a:gsLst>
                <a:gs pos="0">
                  <a:srgbClr val="FFFFFF">
                    <a:alpha val="0"/>
                  </a:srgbClr>
                </a:gs>
                <a:gs pos="100000">
                  <a:srgbClr val="6CB0C3">
                    <a:alpha val="100000"/>
                  </a:srgbClr>
                </a:gs>
              </a:gsLst>
              <a:lin ang="0"/>
            </a:gradFill>
            <a:ln w="28575" cap="rnd">
              <a:solidFill>
                <a:srgbClr val="FFFFFF"/>
              </a:solidFill>
              <a:prstDash val="solid"/>
              <a:round/>
            </a:ln>
          </p:spPr>
        </p:sp>
        <p:sp>
          <p:nvSpPr>
            <p:cNvPr name="TextBox 19" id="19"/>
            <p:cNvSpPr txBox="true"/>
            <p:nvPr/>
          </p:nvSpPr>
          <p:spPr>
            <a:xfrm>
              <a:off x="0" y="38100"/>
              <a:ext cx="1766517" cy="170430"/>
            </a:xfrm>
            <a:prstGeom prst="rect">
              <a:avLst/>
            </a:prstGeom>
          </p:spPr>
          <p:txBody>
            <a:bodyPr anchor="ctr" rtlCol="false" tIns="50800" lIns="50800" bIns="50800" rIns="50800"/>
            <a:lstStyle/>
            <a:p>
              <a:pPr algn="ctr">
                <a:lnSpc>
                  <a:spcPts val="1885"/>
                </a:lnSpc>
              </a:pPr>
            </a:p>
          </p:txBody>
        </p:sp>
      </p:grpSp>
      <p:sp>
        <p:nvSpPr>
          <p:cNvPr name="TextBox 20" id="20"/>
          <p:cNvSpPr txBox="true"/>
          <p:nvPr/>
        </p:nvSpPr>
        <p:spPr>
          <a:xfrm rot="0">
            <a:off x="9863595" y="2593185"/>
            <a:ext cx="2974917" cy="316791"/>
          </a:xfrm>
          <a:prstGeom prst="rect">
            <a:avLst/>
          </a:prstGeom>
        </p:spPr>
        <p:txBody>
          <a:bodyPr anchor="t" rtlCol="false" tIns="0" lIns="0" bIns="0" rIns="0">
            <a:spAutoFit/>
          </a:bodyPr>
          <a:lstStyle/>
          <a:p>
            <a:pPr algn="l">
              <a:lnSpc>
                <a:spcPts val="2495"/>
              </a:lnSpc>
            </a:pPr>
            <a:r>
              <a:rPr lang="en-US" sz="2470">
                <a:solidFill>
                  <a:srgbClr val="FFFFFF"/>
                </a:solidFill>
                <a:latin typeface="TT Norms"/>
                <a:ea typeface="TT Norms"/>
                <a:cs typeface="TT Norms"/>
                <a:sym typeface="TT Norms"/>
              </a:rPr>
              <a:t>Data QC</a:t>
            </a:r>
          </a:p>
        </p:txBody>
      </p:sp>
      <p:sp>
        <p:nvSpPr>
          <p:cNvPr name="TextBox 21" id="21"/>
          <p:cNvSpPr txBox="true"/>
          <p:nvPr/>
        </p:nvSpPr>
        <p:spPr>
          <a:xfrm rot="0">
            <a:off x="9863595" y="3711966"/>
            <a:ext cx="4354491" cy="316791"/>
          </a:xfrm>
          <a:prstGeom prst="rect">
            <a:avLst/>
          </a:prstGeom>
        </p:spPr>
        <p:txBody>
          <a:bodyPr anchor="t" rtlCol="false" tIns="0" lIns="0" bIns="0" rIns="0">
            <a:spAutoFit/>
          </a:bodyPr>
          <a:lstStyle/>
          <a:p>
            <a:pPr algn="l">
              <a:lnSpc>
                <a:spcPts val="2495"/>
              </a:lnSpc>
            </a:pPr>
            <a:r>
              <a:rPr lang="en-US" sz="2470">
                <a:solidFill>
                  <a:srgbClr val="FFFFFF"/>
                </a:solidFill>
                <a:latin typeface="TT Norms"/>
                <a:ea typeface="TT Norms"/>
                <a:cs typeface="TT Norms"/>
                <a:sym typeface="TT Norms"/>
              </a:rPr>
              <a:t>Data Cleaning</a:t>
            </a:r>
          </a:p>
        </p:txBody>
      </p:sp>
      <p:sp>
        <p:nvSpPr>
          <p:cNvPr name="TextBox 22" id="22"/>
          <p:cNvSpPr txBox="true"/>
          <p:nvPr/>
        </p:nvSpPr>
        <p:spPr>
          <a:xfrm rot="0">
            <a:off x="9863595" y="4931737"/>
            <a:ext cx="3658256" cy="316791"/>
          </a:xfrm>
          <a:prstGeom prst="rect">
            <a:avLst/>
          </a:prstGeom>
        </p:spPr>
        <p:txBody>
          <a:bodyPr anchor="t" rtlCol="false" tIns="0" lIns="0" bIns="0" rIns="0">
            <a:spAutoFit/>
          </a:bodyPr>
          <a:lstStyle/>
          <a:p>
            <a:pPr algn="l">
              <a:lnSpc>
                <a:spcPts val="2495"/>
              </a:lnSpc>
            </a:pPr>
            <a:r>
              <a:rPr lang="en-US" sz="2470">
                <a:solidFill>
                  <a:srgbClr val="FFFFFF"/>
                </a:solidFill>
                <a:latin typeface="TT Norms"/>
                <a:ea typeface="TT Norms"/>
                <a:cs typeface="TT Norms"/>
                <a:sym typeface="TT Norms"/>
              </a:rPr>
              <a:t>----------------</a:t>
            </a:r>
          </a:p>
        </p:txBody>
      </p:sp>
      <p:sp>
        <p:nvSpPr>
          <p:cNvPr name="TextBox 23" id="23"/>
          <p:cNvSpPr txBox="true"/>
          <p:nvPr/>
        </p:nvSpPr>
        <p:spPr>
          <a:xfrm rot="0">
            <a:off x="9863595" y="6050518"/>
            <a:ext cx="3164655" cy="316791"/>
          </a:xfrm>
          <a:prstGeom prst="rect">
            <a:avLst/>
          </a:prstGeom>
        </p:spPr>
        <p:txBody>
          <a:bodyPr anchor="t" rtlCol="false" tIns="0" lIns="0" bIns="0" rIns="0">
            <a:spAutoFit/>
          </a:bodyPr>
          <a:lstStyle/>
          <a:p>
            <a:pPr algn="l">
              <a:lnSpc>
                <a:spcPts val="2495"/>
              </a:lnSpc>
            </a:pPr>
            <a:r>
              <a:rPr lang="en-US" sz="2470">
                <a:solidFill>
                  <a:srgbClr val="FFFFFF"/>
                </a:solidFill>
                <a:latin typeface="TT Norms"/>
                <a:ea typeface="TT Norms"/>
                <a:cs typeface="TT Norms"/>
                <a:sym typeface="TT Norms"/>
              </a:rPr>
              <a:t>----------------</a:t>
            </a:r>
          </a:p>
        </p:txBody>
      </p:sp>
      <p:grpSp>
        <p:nvGrpSpPr>
          <p:cNvPr name="Group 24" id="24"/>
          <p:cNvGrpSpPr/>
          <p:nvPr/>
        </p:nvGrpSpPr>
        <p:grpSpPr>
          <a:xfrm rot="0">
            <a:off x="9144000" y="6900086"/>
            <a:ext cx="6707244" cy="791761"/>
            <a:chOff x="0" y="0"/>
            <a:chExt cx="1766517" cy="208530"/>
          </a:xfrm>
        </p:grpSpPr>
        <p:sp>
          <p:nvSpPr>
            <p:cNvPr name="Freeform 25" id="25"/>
            <p:cNvSpPr/>
            <p:nvPr/>
          </p:nvSpPr>
          <p:spPr>
            <a:xfrm flipH="false" flipV="false" rot="0">
              <a:off x="0" y="0"/>
              <a:ext cx="1766517" cy="208530"/>
            </a:xfrm>
            <a:custGeom>
              <a:avLst/>
              <a:gdLst/>
              <a:ahLst/>
              <a:cxnLst/>
              <a:rect r="r" b="b" t="t" l="l"/>
              <a:pathLst>
                <a:path h="208530" w="1766517">
                  <a:moveTo>
                    <a:pt x="24240" y="0"/>
                  </a:moveTo>
                  <a:lnTo>
                    <a:pt x="1742278" y="0"/>
                  </a:lnTo>
                  <a:cubicBezTo>
                    <a:pt x="1748706" y="0"/>
                    <a:pt x="1754872" y="2554"/>
                    <a:pt x="1759417" y="7100"/>
                  </a:cubicBezTo>
                  <a:cubicBezTo>
                    <a:pt x="1763963" y="11645"/>
                    <a:pt x="1766517" y="17811"/>
                    <a:pt x="1766517" y="24240"/>
                  </a:cubicBezTo>
                  <a:lnTo>
                    <a:pt x="1766517" y="184290"/>
                  </a:lnTo>
                  <a:cubicBezTo>
                    <a:pt x="1766517" y="197677"/>
                    <a:pt x="1755665" y="208530"/>
                    <a:pt x="1742278" y="208530"/>
                  </a:cubicBezTo>
                  <a:lnTo>
                    <a:pt x="24240" y="208530"/>
                  </a:lnTo>
                  <a:cubicBezTo>
                    <a:pt x="10852" y="208530"/>
                    <a:pt x="0" y="197677"/>
                    <a:pt x="0" y="184290"/>
                  </a:cubicBezTo>
                  <a:lnTo>
                    <a:pt x="0" y="24240"/>
                  </a:lnTo>
                  <a:cubicBezTo>
                    <a:pt x="0" y="10852"/>
                    <a:pt x="10852" y="0"/>
                    <a:pt x="24240" y="0"/>
                  </a:cubicBezTo>
                  <a:close/>
                </a:path>
              </a:pathLst>
            </a:custGeom>
            <a:ln w="28575" cap="rnd">
              <a:solidFill>
                <a:srgbClr val="FFFFFF"/>
              </a:solidFill>
              <a:prstDash val="solid"/>
              <a:round/>
            </a:ln>
          </p:spPr>
        </p:sp>
        <p:sp>
          <p:nvSpPr>
            <p:cNvPr name="TextBox 26" id="26"/>
            <p:cNvSpPr txBox="true"/>
            <p:nvPr/>
          </p:nvSpPr>
          <p:spPr>
            <a:xfrm>
              <a:off x="0" y="38100"/>
              <a:ext cx="1766517" cy="170430"/>
            </a:xfrm>
            <a:prstGeom prst="rect">
              <a:avLst/>
            </a:prstGeom>
          </p:spPr>
          <p:txBody>
            <a:bodyPr anchor="ctr" rtlCol="false" tIns="50800" lIns="50800" bIns="50800" rIns="50800"/>
            <a:lstStyle/>
            <a:p>
              <a:pPr algn="ctr">
                <a:lnSpc>
                  <a:spcPts val="1885"/>
                </a:lnSpc>
              </a:pPr>
            </a:p>
          </p:txBody>
        </p:sp>
      </p:grpSp>
      <p:grpSp>
        <p:nvGrpSpPr>
          <p:cNvPr name="Group 27" id="27"/>
          <p:cNvGrpSpPr/>
          <p:nvPr/>
        </p:nvGrpSpPr>
        <p:grpSpPr>
          <a:xfrm rot="0">
            <a:off x="9144000" y="8018867"/>
            <a:ext cx="6707244" cy="791761"/>
            <a:chOff x="0" y="0"/>
            <a:chExt cx="1766517" cy="208530"/>
          </a:xfrm>
        </p:grpSpPr>
        <p:sp>
          <p:nvSpPr>
            <p:cNvPr name="Freeform 28" id="28"/>
            <p:cNvSpPr/>
            <p:nvPr/>
          </p:nvSpPr>
          <p:spPr>
            <a:xfrm flipH="false" flipV="false" rot="0">
              <a:off x="0" y="0"/>
              <a:ext cx="1766517" cy="208530"/>
            </a:xfrm>
            <a:custGeom>
              <a:avLst/>
              <a:gdLst/>
              <a:ahLst/>
              <a:cxnLst/>
              <a:rect r="r" b="b" t="t" l="l"/>
              <a:pathLst>
                <a:path h="208530" w="1766517">
                  <a:moveTo>
                    <a:pt x="24240" y="0"/>
                  </a:moveTo>
                  <a:lnTo>
                    <a:pt x="1742278" y="0"/>
                  </a:lnTo>
                  <a:cubicBezTo>
                    <a:pt x="1748706" y="0"/>
                    <a:pt x="1754872" y="2554"/>
                    <a:pt x="1759417" y="7100"/>
                  </a:cubicBezTo>
                  <a:cubicBezTo>
                    <a:pt x="1763963" y="11645"/>
                    <a:pt x="1766517" y="17811"/>
                    <a:pt x="1766517" y="24240"/>
                  </a:cubicBezTo>
                  <a:lnTo>
                    <a:pt x="1766517" y="184290"/>
                  </a:lnTo>
                  <a:cubicBezTo>
                    <a:pt x="1766517" y="197677"/>
                    <a:pt x="1755665" y="208530"/>
                    <a:pt x="1742278" y="208530"/>
                  </a:cubicBezTo>
                  <a:lnTo>
                    <a:pt x="24240" y="208530"/>
                  </a:lnTo>
                  <a:cubicBezTo>
                    <a:pt x="10852" y="208530"/>
                    <a:pt x="0" y="197677"/>
                    <a:pt x="0" y="184290"/>
                  </a:cubicBezTo>
                  <a:lnTo>
                    <a:pt x="0" y="24240"/>
                  </a:lnTo>
                  <a:cubicBezTo>
                    <a:pt x="0" y="10852"/>
                    <a:pt x="10852" y="0"/>
                    <a:pt x="24240" y="0"/>
                  </a:cubicBezTo>
                  <a:close/>
                </a:path>
              </a:pathLst>
            </a:custGeom>
            <a:gradFill rotWithShape="true">
              <a:gsLst>
                <a:gs pos="0">
                  <a:srgbClr val="FFFFFF">
                    <a:alpha val="0"/>
                  </a:srgbClr>
                </a:gs>
                <a:gs pos="100000">
                  <a:srgbClr val="6CB0C3">
                    <a:alpha val="100000"/>
                  </a:srgbClr>
                </a:gs>
              </a:gsLst>
              <a:lin ang="0"/>
            </a:gradFill>
            <a:ln w="28575" cap="rnd">
              <a:solidFill>
                <a:srgbClr val="FFFFFF"/>
              </a:solidFill>
              <a:prstDash val="solid"/>
              <a:round/>
            </a:ln>
          </p:spPr>
        </p:sp>
        <p:sp>
          <p:nvSpPr>
            <p:cNvPr name="TextBox 29" id="29"/>
            <p:cNvSpPr txBox="true"/>
            <p:nvPr/>
          </p:nvSpPr>
          <p:spPr>
            <a:xfrm>
              <a:off x="0" y="38100"/>
              <a:ext cx="1766517" cy="170430"/>
            </a:xfrm>
            <a:prstGeom prst="rect">
              <a:avLst/>
            </a:prstGeom>
          </p:spPr>
          <p:txBody>
            <a:bodyPr anchor="ctr" rtlCol="false" tIns="50800" lIns="50800" bIns="50800" rIns="50800"/>
            <a:lstStyle/>
            <a:p>
              <a:pPr algn="ctr">
                <a:lnSpc>
                  <a:spcPts val="1885"/>
                </a:lnSpc>
              </a:pPr>
            </a:p>
          </p:txBody>
        </p:sp>
      </p:grpSp>
      <p:sp>
        <p:nvSpPr>
          <p:cNvPr name="TextBox 30" id="30"/>
          <p:cNvSpPr txBox="true"/>
          <p:nvPr/>
        </p:nvSpPr>
        <p:spPr>
          <a:xfrm rot="0">
            <a:off x="9863595" y="7166129"/>
            <a:ext cx="2974917" cy="316791"/>
          </a:xfrm>
          <a:prstGeom prst="rect">
            <a:avLst/>
          </a:prstGeom>
        </p:spPr>
        <p:txBody>
          <a:bodyPr anchor="t" rtlCol="false" tIns="0" lIns="0" bIns="0" rIns="0">
            <a:spAutoFit/>
          </a:bodyPr>
          <a:lstStyle/>
          <a:p>
            <a:pPr algn="l">
              <a:lnSpc>
                <a:spcPts val="2495"/>
              </a:lnSpc>
            </a:pPr>
            <a:r>
              <a:rPr lang="en-US" sz="2470">
                <a:solidFill>
                  <a:srgbClr val="FFFFFF"/>
                </a:solidFill>
                <a:latin typeface="TT Norms"/>
                <a:ea typeface="TT Norms"/>
                <a:cs typeface="TT Norms"/>
                <a:sym typeface="TT Norms"/>
              </a:rPr>
              <a:t>-----------------</a:t>
            </a:r>
          </a:p>
        </p:txBody>
      </p:sp>
      <p:sp>
        <p:nvSpPr>
          <p:cNvPr name="TextBox 31" id="31"/>
          <p:cNvSpPr txBox="true"/>
          <p:nvPr/>
        </p:nvSpPr>
        <p:spPr>
          <a:xfrm rot="0">
            <a:off x="9863595" y="8284910"/>
            <a:ext cx="4354491" cy="316791"/>
          </a:xfrm>
          <a:prstGeom prst="rect">
            <a:avLst/>
          </a:prstGeom>
        </p:spPr>
        <p:txBody>
          <a:bodyPr anchor="t" rtlCol="false" tIns="0" lIns="0" bIns="0" rIns="0">
            <a:spAutoFit/>
          </a:bodyPr>
          <a:lstStyle/>
          <a:p>
            <a:pPr algn="l">
              <a:lnSpc>
                <a:spcPts val="2495"/>
              </a:lnSpc>
            </a:pPr>
            <a:r>
              <a:rPr lang="en-US" sz="2470">
                <a:solidFill>
                  <a:srgbClr val="FFFFFF"/>
                </a:solidFill>
                <a:latin typeface="TT Norms"/>
                <a:ea typeface="TT Norms"/>
                <a:cs typeface="TT Norms"/>
                <a:sym typeface="TT Norms"/>
              </a:rPr>
              <a: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DAHDsZQGLPI</dc:identifier>
  <dcterms:modified xsi:type="dcterms:W3CDTF">2011-08-01T06:04:30Z</dcterms:modified>
  <cp:revision>1</cp:revision>
  <dc:title>supply chain</dc:title>
</cp:coreProperties>
</file>