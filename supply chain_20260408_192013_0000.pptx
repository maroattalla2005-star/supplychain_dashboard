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TT Norms" charset="1" panose="02000503030000020003"/>
      <p:regular r:id="rId14"/>
    </p:embeddedFont>
    <p:embeddedFont>
      <p:font typeface="TT Norms Bold" charset="1" panose="020008030300000200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749433" y="5775025"/>
            <a:ext cx="20461501" cy="7477748"/>
          </a:xfrm>
          <a:custGeom>
            <a:avLst/>
            <a:gdLst/>
            <a:ahLst/>
            <a:cxnLst/>
            <a:rect r="r" b="b" t="t" l="l"/>
            <a:pathLst>
              <a:path h="7477748" w="20461501">
                <a:moveTo>
                  <a:pt x="0" y="0"/>
                </a:moveTo>
                <a:lnTo>
                  <a:pt x="20461500" y="0"/>
                </a:lnTo>
                <a:lnTo>
                  <a:pt x="20461500" y="7477748"/>
                </a:lnTo>
                <a:lnTo>
                  <a:pt x="0" y="7477748"/>
                </a:lnTo>
                <a:lnTo>
                  <a:pt x="0" y="0"/>
                </a:lnTo>
                <a:close/>
              </a:path>
            </a:pathLst>
          </a:custGeom>
          <a:blipFill>
            <a:blip r:embed="rId2"/>
            <a:stretch>
              <a:fillRect l="0" t="0" r="0" b="0"/>
            </a:stretch>
          </a:blipFill>
        </p:spPr>
      </p:sp>
      <p:sp>
        <p:nvSpPr>
          <p:cNvPr name="Freeform 3" id="3"/>
          <p:cNvSpPr/>
          <p:nvPr/>
        </p:nvSpPr>
        <p:spPr>
          <a:xfrm flipH="false" flipV="false" rot="0">
            <a:off x="1028700" y="2395880"/>
            <a:ext cx="9411854" cy="5835491"/>
          </a:xfrm>
          <a:custGeom>
            <a:avLst/>
            <a:gdLst/>
            <a:ahLst/>
            <a:cxnLst/>
            <a:rect r="r" b="b" t="t" l="l"/>
            <a:pathLst>
              <a:path h="5835491" w="9411854">
                <a:moveTo>
                  <a:pt x="0" y="0"/>
                </a:moveTo>
                <a:lnTo>
                  <a:pt x="9411854" y="0"/>
                </a:lnTo>
                <a:lnTo>
                  <a:pt x="9411854" y="5835492"/>
                </a:lnTo>
                <a:lnTo>
                  <a:pt x="0" y="58354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198084" y="2124078"/>
            <a:ext cx="735531" cy="543604"/>
          </a:xfrm>
          <a:custGeom>
            <a:avLst/>
            <a:gdLst/>
            <a:ahLst/>
            <a:cxnLst/>
            <a:rect r="r" b="b" t="t" l="l"/>
            <a:pathLst>
              <a:path h="543604" w="735531">
                <a:moveTo>
                  <a:pt x="0" y="0"/>
                </a:moveTo>
                <a:lnTo>
                  <a:pt x="735532" y="0"/>
                </a:lnTo>
                <a:lnTo>
                  <a:pt x="735532" y="543605"/>
                </a:lnTo>
                <a:lnTo>
                  <a:pt x="0" y="5436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82573" y="1538449"/>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1071084" y="3405503"/>
            <a:ext cx="5778547" cy="4476479"/>
          </a:xfrm>
          <a:prstGeom prst="rect">
            <a:avLst/>
          </a:prstGeom>
        </p:spPr>
        <p:txBody>
          <a:bodyPr anchor="t" rtlCol="false" tIns="0" lIns="0" bIns="0" rIns="0">
            <a:spAutoFit/>
          </a:bodyPr>
          <a:lstStyle/>
          <a:p>
            <a:pPr algn="l">
              <a:lnSpc>
                <a:spcPts val="11550"/>
              </a:lnSpc>
            </a:pPr>
            <a:r>
              <a:rPr lang="en-US" sz="11436">
                <a:solidFill>
                  <a:srgbClr val="FFFFFF"/>
                </a:solidFill>
                <a:latin typeface="TT Norms"/>
                <a:ea typeface="TT Norms"/>
                <a:cs typeface="TT Norms"/>
                <a:sym typeface="TT Norms"/>
              </a:rPr>
              <a:t>Supply </a:t>
            </a:r>
          </a:p>
          <a:p>
            <a:pPr algn="l">
              <a:lnSpc>
                <a:spcPts val="11550"/>
              </a:lnSpc>
            </a:pPr>
            <a:r>
              <a:rPr lang="en-US" sz="11436">
                <a:solidFill>
                  <a:srgbClr val="FFFFFF"/>
                </a:solidFill>
                <a:latin typeface="TT Norms"/>
                <a:ea typeface="TT Norms"/>
                <a:cs typeface="TT Norms"/>
                <a:sym typeface="TT Norms"/>
              </a:rPr>
              <a:t>chain</a:t>
            </a:r>
          </a:p>
          <a:p>
            <a:pPr algn="l">
              <a:lnSpc>
                <a:spcPts val="11550"/>
              </a:lnSpc>
            </a:pPr>
          </a:p>
        </p:txBody>
      </p:sp>
      <p:sp>
        <p:nvSpPr>
          <p:cNvPr name="TextBox 7" id="7"/>
          <p:cNvSpPr txBox="true"/>
          <p:nvPr/>
        </p:nvSpPr>
        <p:spPr>
          <a:xfrm rot="0">
            <a:off x="11071084" y="6268978"/>
            <a:ext cx="5778547" cy="1542796"/>
          </a:xfrm>
          <a:prstGeom prst="rect">
            <a:avLst/>
          </a:prstGeom>
        </p:spPr>
        <p:txBody>
          <a:bodyPr anchor="t" rtlCol="false" tIns="0" lIns="0" bIns="0" rIns="0">
            <a:spAutoFit/>
          </a:bodyPr>
          <a:lstStyle/>
          <a:p>
            <a:pPr algn="l">
              <a:lnSpc>
                <a:spcPts val="11550"/>
              </a:lnSpc>
            </a:pPr>
            <a:r>
              <a:rPr lang="en-US" sz="11436" b="true">
                <a:solidFill>
                  <a:srgbClr val="FFFFFF"/>
                </a:solidFill>
                <a:latin typeface="TT Norms Bold"/>
                <a:ea typeface="TT Norms Bold"/>
                <a:cs typeface="TT Norms Bold"/>
                <a:sym typeface="TT Norms Bold"/>
              </a:rPr>
              <a:t>Insights</a:t>
            </a:r>
          </a:p>
        </p:txBody>
      </p:sp>
      <p:sp>
        <p:nvSpPr>
          <p:cNvPr name="TextBox 8" id="8"/>
          <p:cNvSpPr txBox="true"/>
          <p:nvPr/>
        </p:nvSpPr>
        <p:spPr>
          <a:xfrm rot="0">
            <a:off x="11933616" y="2495602"/>
            <a:ext cx="2762273" cy="391786"/>
          </a:xfrm>
          <a:prstGeom prst="rect">
            <a:avLst/>
          </a:prstGeom>
        </p:spPr>
        <p:txBody>
          <a:bodyPr anchor="t" rtlCol="false" tIns="0" lIns="0" bIns="0" rIns="0">
            <a:spAutoFit/>
          </a:bodyPr>
          <a:lstStyle/>
          <a:p>
            <a:pPr algn="l">
              <a:lnSpc>
                <a:spcPts val="2912"/>
              </a:lnSpc>
            </a:pPr>
            <a:r>
              <a:rPr lang="en-US" sz="2883">
                <a:solidFill>
                  <a:srgbClr val="FFFFFF"/>
                </a:solidFill>
                <a:latin typeface="TT Norms"/>
                <a:ea typeface="TT Norms"/>
                <a:cs typeface="TT Norms"/>
                <a:sym typeface="TT Norms"/>
              </a:rPr>
              <a:t>Team 2</a:t>
            </a:r>
          </a:p>
        </p:txBody>
      </p:sp>
      <p:sp>
        <p:nvSpPr>
          <p:cNvPr name="Freeform 9" id="9"/>
          <p:cNvSpPr/>
          <p:nvPr/>
        </p:nvSpPr>
        <p:spPr>
          <a:xfrm flipH="false" flipV="false" rot="0">
            <a:off x="5880114" y="4659483"/>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1F5353"/>
        </a:solidFill>
      </p:bgPr>
    </p:bg>
    <p:spTree>
      <p:nvGrpSpPr>
        <p:cNvPr id="1" name=""/>
        <p:cNvGrpSpPr/>
        <p:nvPr/>
      </p:nvGrpSpPr>
      <p:grpSpPr>
        <a:xfrm>
          <a:off x="0" y="0"/>
          <a:ext cx="0" cy="0"/>
          <a:chOff x="0" y="0"/>
          <a:chExt cx="0" cy="0"/>
        </a:xfrm>
      </p:grpSpPr>
      <p:sp>
        <p:nvSpPr>
          <p:cNvPr name="TextBox 2" id="2"/>
          <p:cNvSpPr txBox="true"/>
          <p:nvPr/>
        </p:nvSpPr>
        <p:spPr>
          <a:xfrm rot="0">
            <a:off x="6164610" y="644673"/>
            <a:ext cx="5958780" cy="882354"/>
          </a:xfrm>
          <a:prstGeom prst="rect">
            <a:avLst/>
          </a:prstGeom>
        </p:spPr>
        <p:txBody>
          <a:bodyPr anchor="t" rtlCol="false" tIns="0" lIns="0" bIns="0" rIns="0">
            <a:spAutoFit/>
          </a:bodyPr>
          <a:lstStyle/>
          <a:p>
            <a:pPr algn="ctr">
              <a:lnSpc>
                <a:spcPts val="6632"/>
              </a:lnSpc>
              <a:spcBef>
                <a:spcPct val="0"/>
              </a:spcBef>
            </a:pPr>
            <a:r>
              <a:rPr lang="en-US" b="true" sz="6566">
                <a:solidFill>
                  <a:srgbClr val="FFFFFF"/>
                </a:solidFill>
                <a:latin typeface="TT Norms Bold"/>
                <a:ea typeface="TT Norms Bold"/>
                <a:cs typeface="TT Norms Bold"/>
                <a:sym typeface="TT Norms Bold"/>
              </a:rPr>
              <a:t>Team Members</a:t>
            </a:r>
          </a:p>
        </p:txBody>
      </p:sp>
      <p:sp>
        <p:nvSpPr>
          <p:cNvPr name="TextBox 3" id="3"/>
          <p:cNvSpPr txBox="true"/>
          <p:nvPr/>
        </p:nvSpPr>
        <p:spPr>
          <a:xfrm rot="0">
            <a:off x="1028700" y="2142673"/>
            <a:ext cx="6861318" cy="6709902"/>
          </a:xfrm>
          <a:prstGeom prst="rect">
            <a:avLst/>
          </a:prstGeom>
        </p:spPr>
        <p:txBody>
          <a:bodyPr anchor="t" rtlCol="false" tIns="0" lIns="0" bIns="0" rIns="0">
            <a:spAutoFit/>
          </a:bodyPr>
          <a:lstStyle/>
          <a:p>
            <a:pPr algn="l" marL="1170574" indent="-585287" lvl="1">
              <a:lnSpc>
                <a:spcPts val="10843"/>
              </a:lnSpc>
              <a:buFont typeface="Arial"/>
              <a:buChar char="•"/>
            </a:pPr>
            <a:r>
              <a:rPr lang="en-US" sz="5421">
                <a:solidFill>
                  <a:srgbClr val="FFFFFF"/>
                </a:solidFill>
                <a:latin typeface="TT Norms"/>
                <a:ea typeface="TT Norms"/>
                <a:cs typeface="TT Norms"/>
                <a:sym typeface="TT Norms"/>
              </a:rPr>
              <a:t>AlaaHassan</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Mariam Alaa</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Sara Tawfik </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Kyrillos Nassar</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Marwan Ayman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324264" y="6981528"/>
            <a:ext cx="20461501" cy="7477748"/>
          </a:xfrm>
          <a:custGeom>
            <a:avLst/>
            <a:gdLst/>
            <a:ahLst/>
            <a:cxnLst/>
            <a:rect r="r" b="b" t="t" l="l"/>
            <a:pathLst>
              <a:path h="7477748" w="20461501">
                <a:moveTo>
                  <a:pt x="0" y="0"/>
                </a:moveTo>
                <a:lnTo>
                  <a:pt x="20461501" y="0"/>
                </a:lnTo>
                <a:lnTo>
                  <a:pt x="20461501" y="7477749"/>
                </a:lnTo>
                <a:lnTo>
                  <a:pt x="0" y="7477749"/>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7190385" y="7318542"/>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818269" y="1694482"/>
            <a:ext cx="9611710" cy="1294617"/>
            <a:chOff x="0" y="0"/>
            <a:chExt cx="12815613" cy="1726156"/>
          </a:xfrm>
        </p:grpSpPr>
        <p:sp>
          <p:nvSpPr>
            <p:cNvPr name="TextBox 5" id="5"/>
            <p:cNvSpPr txBox="true"/>
            <p:nvPr/>
          </p:nvSpPr>
          <p:spPr>
            <a:xfrm rot="0">
              <a:off x="0" y="152400"/>
              <a:ext cx="4763850" cy="1573756"/>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Project</a:t>
              </a:r>
            </a:p>
          </p:txBody>
        </p:sp>
        <p:sp>
          <p:nvSpPr>
            <p:cNvPr name="TextBox 6" id="6"/>
            <p:cNvSpPr txBox="true"/>
            <p:nvPr/>
          </p:nvSpPr>
          <p:spPr>
            <a:xfrm rot="0">
              <a:off x="4996602" y="152400"/>
              <a:ext cx="7819010" cy="1573756"/>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Overview </a:t>
              </a:r>
            </a:p>
          </p:txBody>
        </p:sp>
      </p:grpSp>
      <p:sp>
        <p:nvSpPr>
          <p:cNvPr name="TextBox 7" id="7"/>
          <p:cNvSpPr txBox="true"/>
          <p:nvPr/>
        </p:nvSpPr>
        <p:spPr>
          <a:xfrm rot="0">
            <a:off x="1818269" y="3415311"/>
            <a:ext cx="11960245" cy="2691765"/>
          </a:xfrm>
          <a:prstGeom prst="rect">
            <a:avLst/>
          </a:prstGeom>
        </p:spPr>
        <p:txBody>
          <a:bodyPr anchor="t" rtlCol="false" tIns="0" lIns="0" bIns="0" rIns="0">
            <a:spAutoFit/>
          </a:bodyPr>
          <a:lstStyle/>
          <a:p>
            <a:pPr algn="just">
              <a:lnSpc>
                <a:spcPts val="3030"/>
              </a:lnSpc>
            </a:pPr>
            <a:r>
              <a:rPr lang="en-US" sz="3000">
                <a:solidFill>
                  <a:srgbClr val="FFFFFF"/>
                </a:solidFill>
                <a:latin typeface="TT Norms"/>
                <a:ea typeface="TT Norms"/>
                <a:cs typeface="TT Norms"/>
                <a:sym typeface="TT Norms"/>
              </a:rPr>
              <a:t>This project presents a supply chain dashboard designed to provide a comprehensive overview of key operational activities and performance indicators across the supply chain process. The dashboard integrates and visualizes data related to inventory management, order fulfillment, transportation, and overall logistics performance. By organizing this information into clear and interactive visuals, it allows users to quickly understand how different parts of the supply chain are performing.</a:t>
            </a:r>
          </a:p>
        </p:txBody>
      </p:sp>
      <p:sp>
        <p:nvSpPr>
          <p:cNvPr name="TextBox 8" id="8"/>
          <p:cNvSpPr txBox="true"/>
          <p:nvPr/>
        </p:nvSpPr>
        <p:spPr>
          <a:xfrm rot="0">
            <a:off x="1818269" y="6535701"/>
            <a:ext cx="11960245" cy="3072765"/>
          </a:xfrm>
          <a:prstGeom prst="rect">
            <a:avLst/>
          </a:prstGeom>
        </p:spPr>
        <p:txBody>
          <a:bodyPr anchor="t" rtlCol="false" tIns="0" lIns="0" bIns="0" rIns="0">
            <a:spAutoFit/>
          </a:bodyPr>
          <a:lstStyle/>
          <a:p>
            <a:pPr algn="just">
              <a:lnSpc>
                <a:spcPts val="3030"/>
              </a:lnSpc>
            </a:pPr>
            <a:r>
              <a:rPr lang="en-US" sz="3000">
                <a:solidFill>
                  <a:srgbClr val="FFFFFF"/>
                </a:solidFill>
                <a:latin typeface="TT Norms"/>
                <a:ea typeface="TT Norms"/>
                <a:cs typeface="TT Norms"/>
                <a:sym typeface="TT Norms"/>
              </a:rPr>
              <a:t>The dashboard aims to support better monitoring and analysis of supply chain operations by highlighting important trends, patterns, and performance metrics. Through these insights, users can identify potential inefficiencies, evaluate operational performance, and gain a deeper understanding of supply chain dynamics. Overall, the project demonstrates how data visualization can transform complex operational data into meaningful insights that help support more informed and strategic decision-making.</a:t>
            </a:r>
          </a:p>
        </p:txBody>
      </p:sp>
      <p:sp>
        <p:nvSpPr>
          <p:cNvPr name="Freeform 9" id="9"/>
          <p:cNvSpPr/>
          <p:nvPr/>
        </p:nvSpPr>
        <p:spPr>
          <a:xfrm flipH="false" flipV="false" rot="0">
            <a:off x="14201441" y="4074656"/>
            <a:ext cx="3153109" cy="4313955"/>
          </a:xfrm>
          <a:custGeom>
            <a:avLst/>
            <a:gdLst/>
            <a:ahLst/>
            <a:cxnLst/>
            <a:rect r="r" b="b" t="t" l="l"/>
            <a:pathLst>
              <a:path h="4313955" w="3153109">
                <a:moveTo>
                  <a:pt x="0" y="0"/>
                </a:moveTo>
                <a:lnTo>
                  <a:pt x="3153109" y="0"/>
                </a:lnTo>
                <a:lnTo>
                  <a:pt x="3153109" y="4313955"/>
                </a:lnTo>
                <a:lnTo>
                  <a:pt x="0" y="43139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086750" y="5686886"/>
            <a:ext cx="20461501" cy="7477748"/>
          </a:xfrm>
          <a:custGeom>
            <a:avLst/>
            <a:gdLst/>
            <a:ahLst/>
            <a:cxnLst/>
            <a:rect r="r" b="b" t="t" l="l"/>
            <a:pathLst>
              <a:path h="7477748" w="20461501">
                <a:moveTo>
                  <a:pt x="0" y="0"/>
                </a:moveTo>
                <a:lnTo>
                  <a:pt x="20461500" y="0"/>
                </a:lnTo>
                <a:lnTo>
                  <a:pt x="20461500" y="7477748"/>
                </a:lnTo>
                <a:lnTo>
                  <a:pt x="0" y="7477748"/>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1818269" y="4966464"/>
            <a:ext cx="5848383" cy="4030129"/>
          </a:xfrm>
          <a:custGeom>
            <a:avLst/>
            <a:gdLst/>
            <a:ahLst/>
            <a:cxnLst/>
            <a:rect r="r" b="b" t="t" l="l"/>
            <a:pathLst>
              <a:path h="4030129" w="5848383">
                <a:moveTo>
                  <a:pt x="0" y="0"/>
                </a:moveTo>
                <a:lnTo>
                  <a:pt x="5848383" y="0"/>
                </a:lnTo>
                <a:lnTo>
                  <a:pt x="5848383" y="4030129"/>
                </a:lnTo>
                <a:lnTo>
                  <a:pt x="0" y="40301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892389" y="3369722"/>
            <a:ext cx="5700144" cy="1142217"/>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Steps</a:t>
            </a:r>
          </a:p>
        </p:txBody>
      </p:sp>
      <p:sp>
        <p:nvSpPr>
          <p:cNvPr name="TextBox 5" id="5"/>
          <p:cNvSpPr txBox="true"/>
          <p:nvPr/>
        </p:nvSpPr>
        <p:spPr>
          <a:xfrm rot="0">
            <a:off x="1892389" y="2075079"/>
            <a:ext cx="5848383" cy="1142243"/>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Analysis</a:t>
            </a:r>
          </a:p>
        </p:txBody>
      </p:sp>
      <p:grpSp>
        <p:nvGrpSpPr>
          <p:cNvPr name="Group 6" id="6"/>
          <p:cNvGrpSpPr/>
          <p:nvPr/>
        </p:nvGrpSpPr>
        <p:grpSpPr>
          <a:xfrm rot="0">
            <a:off x="9144000" y="2327141"/>
            <a:ext cx="6707244" cy="791761"/>
            <a:chOff x="0" y="0"/>
            <a:chExt cx="1766517" cy="208530"/>
          </a:xfrm>
        </p:grpSpPr>
        <p:sp>
          <p:nvSpPr>
            <p:cNvPr name="Freeform 7" id="7"/>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ln w="28575" cap="rnd">
              <a:solidFill>
                <a:srgbClr val="FFFFFF"/>
              </a:solidFill>
              <a:prstDash val="solid"/>
              <a:round/>
            </a:ln>
          </p:spPr>
        </p:sp>
        <p:sp>
          <p:nvSpPr>
            <p:cNvPr name="TextBox 8" id="8"/>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9" id="9"/>
          <p:cNvGrpSpPr/>
          <p:nvPr/>
        </p:nvGrpSpPr>
        <p:grpSpPr>
          <a:xfrm rot="0">
            <a:off x="9144000" y="3445922"/>
            <a:ext cx="6707244" cy="791761"/>
            <a:chOff x="0" y="0"/>
            <a:chExt cx="1766517" cy="208530"/>
          </a:xfrm>
        </p:grpSpPr>
        <p:sp>
          <p:nvSpPr>
            <p:cNvPr name="Freeform 10" id="10"/>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11" id="11"/>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12" id="12"/>
          <p:cNvGrpSpPr/>
          <p:nvPr/>
        </p:nvGrpSpPr>
        <p:grpSpPr>
          <a:xfrm rot="0">
            <a:off x="9144000" y="4665693"/>
            <a:ext cx="6707244" cy="791761"/>
            <a:chOff x="0" y="0"/>
            <a:chExt cx="1766517" cy="208530"/>
          </a:xfrm>
        </p:grpSpPr>
        <p:sp>
          <p:nvSpPr>
            <p:cNvPr name="Freeform 13" id="13"/>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ln w="28575" cap="rnd">
              <a:solidFill>
                <a:srgbClr val="FFFFFF"/>
              </a:solidFill>
              <a:prstDash val="solid"/>
              <a:round/>
            </a:ln>
          </p:spPr>
        </p:sp>
        <p:sp>
          <p:nvSpPr>
            <p:cNvPr name="TextBox 14" id="14"/>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15" id="15"/>
          <p:cNvGrpSpPr/>
          <p:nvPr/>
        </p:nvGrpSpPr>
        <p:grpSpPr>
          <a:xfrm rot="0">
            <a:off x="9144000" y="5784474"/>
            <a:ext cx="6707244" cy="791761"/>
            <a:chOff x="0" y="0"/>
            <a:chExt cx="1766517" cy="208530"/>
          </a:xfrm>
        </p:grpSpPr>
        <p:sp>
          <p:nvSpPr>
            <p:cNvPr name="Freeform 16" id="16"/>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17" id="17"/>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sp>
        <p:nvSpPr>
          <p:cNvPr name="TextBox 18" id="18"/>
          <p:cNvSpPr txBox="true"/>
          <p:nvPr/>
        </p:nvSpPr>
        <p:spPr>
          <a:xfrm rot="0">
            <a:off x="9863595" y="2593185"/>
            <a:ext cx="2974917"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Data QC</a:t>
            </a:r>
          </a:p>
        </p:txBody>
      </p:sp>
      <p:sp>
        <p:nvSpPr>
          <p:cNvPr name="TextBox 19" id="19"/>
          <p:cNvSpPr txBox="true"/>
          <p:nvPr/>
        </p:nvSpPr>
        <p:spPr>
          <a:xfrm rot="0">
            <a:off x="9863595" y="3711966"/>
            <a:ext cx="4354491"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Data Cleaning</a:t>
            </a:r>
          </a:p>
        </p:txBody>
      </p:sp>
      <p:sp>
        <p:nvSpPr>
          <p:cNvPr name="TextBox 20" id="20"/>
          <p:cNvSpPr txBox="true"/>
          <p:nvPr/>
        </p:nvSpPr>
        <p:spPr>
          <a:xfrm rot="0">
            <a:off x="9863595" y="4931737"/>
            <a:ext cx="3658256"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Data Modeling</a:t>
            </a:r>
          </a:p>
        </p:txBody>
      </p:sp>
      <p:sp>
        <p:nvSpPr>
          <p:cNvPr name="TextBox 21" id="21"/>
          <p:cNvSpPr txBox="true"/>
          <p:nvPr/>
        </p:nvSpPr>
        <p:spPr>
          <a:xfrm rot="0">
            <a:off x="9863595" y="6050518"/>
            <a:ext cx="3164655"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DAX</a:t>
            </a:r>
          </a:p>
        </p:txBody>
      </p:sp>
      <p:grpSp>
        <p:nvGrpSpPr>
          <p:cNvPr name="Group 22" id="22"/>
          <p:cNvGrpSpPr/>
          <p:nvPr/>
        </p:nvGrpSpPr>
        <p:grpSpPr>
          <a:xfrm rot="0">
            <a:off x="9144000" y="6900086"/>
            <a:ext cx="6707244" cy="791761"/>
            <a:chOff x="0" y="0"/>
            <a:chExt cx="1766517" cy="208530"/>
          </a:xfrm>
        </p:grpSpPr>
        <p:sp>
          <p:nvSpPr>
            <p:cNvPr name="Freeform 23" id="23"/>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ln w="28575" cap="rnd">
              <a:solidFill>
                <a:srgbClr val="FFFFFF"/>
              </a:solidFill>
              <a:prstDash val="solid"/>
              <a:round/>
            </a:ln>
          </p:spPr>
        </p:sp>
        <p:sp>
          <p:nvSpPr>
            <p:cNvPr name="TextBox 24" id="24"/>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25" id="25"/>
          <p:cNvGrpSpPr/>
          <p:nvPr/>
        </p:nvGrpSpPr>
        <p:grpSpPr>
          <a:xfrm rot="0">
            <a:off x="9144000" y="8018867"/>
            <a:ext cx="6707244" cy="791761"/>
            <a:chOff x="0" y="0"/>
            <a:chExt cx="1766517" cy="208530"/>
          </a:xfrm>
        </p:grpSpPr>
        <p:sp>
          <p:nvSpPr>
            <p:cNvPr name="Freeform 26" id="26"/>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27" id="27"/>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sp>
        <p:nvSpPr>
          <p:cNvPr name="TextBox 28" id="28"/>
          <p:cNvSpPr txBox="true"/>
          <p:nvPr/>
        </p:nvSpPr>
        <p:spPr>
          <a:xfrm rot="0">
            <a:off x="9863595" y="7166129"/>
            <a:ext cx="2974917"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Report</a:t>
            </a:r>
          </a:p>
        </p:txBody>
      </p:sp>
      <p:sp>
        <p:nvSpPr>
          <p:cNvPr name="TextBox 29" id="29"/>
          <p:cNvSpPr txBox="true"/>
          <p:nvPr/>
        </p:nvSpPr>
        <p:spPr>
          <a:xfrm rot="0">
            <a:off x="9863595" y="8284910"/>
            <a:ext cx="4354491"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Dashboard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086750" y="5686886"/>
            <a:ext cx="20461501" cy="7477748"/>
          </a:xfrm>
          <a:custGeom>
            <a:avLst/>
            <a:gdLst/>
            <a:ahLst/>
            <a:cxnLst/>
            <a:rect r="r" b="b" t="t" l="l"/>
            <a:pathLst>
              <a:path h="7477748" w="20461501">
                <a:moveTo>
                  <a:pt x="0" y="0"/>
                </a:moveTo>
                <a:lnTo>
                  <a:pt x="20461500" y="0"/>
                </a:lnTo>
                <a:lnTo>
                  <a:pt x="20461500" y="7477748"/>
                </a:lnTo>
                <a:lnTo>
                  <a:pt x="0" y="7477748"/>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1892389" y="4804086"/>
            <a:ext cx="4733704" cy="4746361"/>
          </a:xfrm>
          <a:custGeom>
            <a:avLst/>
            <a:gdLst/>
            <a:ahLst/>
            <a:cxnLst/>
            <a:rect r="r" b="b" t="t" l="l"/>
            <a:pathLst>
              <a:path h="4746361" w="4733704">
                <a:moveTo>
                  <a:pt x="0" y="0"/>
                </a:moveTo>
                <a:lnTo>
                  <a:pt x="4733704" y="0"/>
                </a:lnTo>
                <a:lnTo>
                  <a:pt x="4733704" y="4746361"/>
                </a:lnTo>
                <a:lnTo>
                  <a:pt x="0" y="47463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892389" y="3369722"/>
            <a:ext cx="5700144" cy="1142217"/>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Source</a:t>
            </a:r>
          </a:p>
        </p:txBody>
      </p:sp>
      <p:sp>
        <p:nvSpPr>
          <p:cNvPr name="TextBox 5" id="5"/>
          <p:cNvSpPr txBox="true"/>
          <p:nvPr/>
        </p:nvSpPr>
        <p:spPr>
          <a:xfrm rot="0">
            <a:off x="1892389" y="2075079"/>
            <a:ext cx="5848383" cy="1142217"/>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Data</a:t>
            </a:r>
          </a:p>
        </p:txBody>
      </p:sp>
      <p:sp>
        <p:nvSpPr>
          <p:cNvPr name="TextBox 6" id="6"/>
          <p:cNvSpPr txBox="true"/>
          <p:nvPr/>
        </p:nvSpPr>
        <p:spPr>
          <a:xfrm rot="0">
            <a:off x="9144000" y="4003846"/>
            <a:ext cx="8551167" cy="5254454"/>
          </a:xfrm>
          <a:prstGeom prst="rect">
            <a:avLst/>
          </a:prstGeom>
        </p:spPr>
        <p:txBody>
          <a:bodyPr anchor="t" rtlCol="false" tIns="0" lIns="0" bIns="0" rIns="0">
            <a:spAutoFit/>
          </a:bodyPr>
          <a:lstStyle/>
          <a:p>
            <a:pPr algn="just" marL="0" indent="0" lvl="0">
              <a:lnSpc>
                <a:spcPts val="3772"/>
              </a:lnSpc>
              <a:spcBef>
                <a:spcPct val="0"/>
              </a:spcBef>
            </a:pPr>
            <a:r>
              <a:rPr lang="en-US" sz="3735" strike="noStrike" u="none">
                <a:solidFill>
                  <a:srgbClr val="FFFFFF"/>
                </a:solidFill>
                <a:latin typeface="TT Norms"/>
                <a:ea typeface="TT Norms"/>
                <a:cs typeface="TT Norms"/>
                <a:sym typeface="TT Norms"/>
              </a:rPr>
              <a:t>This study is based on data obtained from the Digital Egypt Pioneers Initiative (DEPI) platform, where the dataset was provided for educational and training purposes. The data is well-structured and reliable, making it suitable for analysis and interpretation. In addition, Data Quality Control (QC) procedures were applied to ensure the accuracy, consistency, and completeness of the data before conducting the analysis.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324264" y="6981528"/>
            <a:ext cx="20461501" cy="7477748"/>
          </a:xfrm>
          <a:custGeom>
            <a:avLst/>
            <a:gdLst/>
            <a:ahLst/>
            <a:cxnLst/>
            <a:rect r="r" b="b" t="t" l="l"/>
            <a:pathLst>
              <a:path h="7477748" w="20461501">
                <a:moveTo>
                  <a:pt x="0" y="0"/>
                </a:moveTo>
                <a:lnTo>
                  <a:pt x="20461501" y="0"/>
                </a:lnTo>
                <a:lnTo>
                  <a:pt x="20461501" y="7477749"/>
                </a:lnTo>
                <a:lnTo>
                  <a:pt x="0" y="7477749"/>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13241885" y="7311086"/>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60010" y="2516737"/>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444994" y="3196134"/>
            <a:ext cx="17398012" cy="6558894"/>
            <a:chOff x="0" y="0"/>
            <a:chExt cx="2578691" cy="972143"/>
          </a:xfrm>
        </p:grpSpPr>
        <p:sp>
          <p:nvSpPr>
            <p:cNvPr name="Freeform 6" id="6"/>
            <p:cNvSpPr/>
            <p:nvPr/>
          </p:nvSpPr>
          <p:spPr>
            <a:xfrm flipH="false" flipV="false" rot="0">
              <a:off x="0" y="0"/>
              <a:ext cx="2578691" cy="972143"/>
            </a:xfrm>
            <a:custGeom>
              <a:avLst/>
              <a:gdLst/>
              <a:ahLst/>
              <a:cxnLst/>
              <a:rect r="r" b="b" t="t" l="l"/>
              <a:pathLst>
                <a:path h="972143" w="2578691">
                  <a:moveTo>
                    <a:pt x="10235" y="0"/>
                  </a:moveTo>
                  <a:lnTo>
                    <a:pt x="2568456" y="0"/>
                  </a:lnTo>
                  <a:cubicBezTo>
                    <a:pt x="2574109" y="0"/>
                    <a:pt x="2578691" y="4582"/>
                    <a:pt x="2578691" y="10235"/>
                  </a:cubicBezTo>
                  <a:lnTo>
                    <a:pt x="2578691" y="961908"/>
                  </a:lnTo>
                  <a:cubicBezTo>
                    <a:pt x="2578691" y="967561"/>
                    <a:pt x="2574109" y="972143"/>
                    <a:pt x="2568456" y="972143"/>
                  </a:cubicBezTo>
                  <a:lnTo>
                    <a:pt x="10235" y="972143"/>
                  </a:lnTo>
                  <a:cubicBezTo>
                    <a:pt x="4582" y="972143"/>
                    <a:pt x="0" y="967561"/>
                    <a:pt x="0" y="961908"/>
                  </a:cubicBezTo>
                  <a:lnTo>
                    <a:pt x="0" y="10235"/>
                  </a:lnTo>
                  <a:cubicBezTo>
                    <a:pt x="0" y="4582"/>
                    <a:pt x="4582" y="0"/>
                    <a:pt x="10235" y="0"/>
                  </a:cubicBezTo>
                  <a:close/>
                </a:path>
              </a:pathLst>
            </a:custGeom>
            <a:blipFill>
              <a:blip r:embed="rId5"/>
              <a:stretch>
                <a:fillRect l="0" t="0" r="0" b="-438"/>
              </a:stretch>
            </a:blipFill>
            <a:ln w="57150" cap="rnd">
              <a:solidFill>
                <a:srgbClr val="FFFFFF"/>
              </a:solidFill>
              <a:prstDash val="solid"/>
              <a:round/>
            </a:ln>
          </p:spPr>
        </p:sp>
      </p:grpSp>
      <p:grpSp>
        <p:nvGrpSpPr>
          <p:cNvPr name="Group 7" id="7"/>
          <p:cNvGrpSpPr/>
          <p:nvPr/>
        </p:nvGrpSpPr>
        <p:grpSpPr>
          <a:xfrm rot="0">
            <a:off x="1028700" y="2185297"/>
            <a:ext cx="2958614" cy="791761"/>
            <a:chOff x="0" y="0"/>
            <a:chExt cx="3944819" cy="1055682"/>
          </a:xfrm>
        </p:grpSpPr>
        <p:grpSp>
          <p:nvGrpSpPr>
            <p:cNvPr name="Group 8" id="8"/>
            <p:cNvGrpSpPr/>
            <p:nvPr/>
          </p:nvGrpSpPr>
          <p:grpSpPr>
            <a:xfrm rot="0">
              <a:off x="0" y="0"/>
              <a:ext cx="3944819" cy="1055682"/>
              <a:chOff x="0" y="0"/>
              <a:chExt cx="779223" cy="208530"/>
            </a:xfrm>
          </p:grpSpPr>
          <p:sp>
            <p:nvSpPr>
              <p:cNvPr name="Freeform 9" id="9"/>
              <p:cNvSpPr/>
              <p:nvPr/>
            </p:nvSpPr>
            <p:spPr>
              <a:xfrm flipH="false" flipV="false" rot="0">
                <a:off x="0" y="0"/>
                <a:ext cx="779223" cy="208530"/>
              </a:xfrm>
              <a:custGeom>
                <a:avLst/>
                <a:gdLst/>
                <a:ahLst/>
                <a:cxnLst/>
                <a:rect r="r" b="b" t="t" l="l"/>
                <a:pathLst>
                  <a:path h="208530" w="779223">
                    <a:moveTo>
                      <a:pt x="54952" y="0"/>
                    </a:moveTo>
                    <a:lnTo>
                      <a:pt x="724272" y="0"/>
                    </a:lnTo>
                    <a:cubicBezTo>
                      <a:pt x="754621" y="0"/>
                      <a:pt x="779223" y="24603"/>
                      <a:pt x="779223" y="54952"/>
                    </a:cubicBezTo>
                    <a:lnTo>
                      <a:pt x="779223" y="153578"/>
                    </a:lnTo>
                    <a:cubicBezTo>
                      <a:pt x="779223" y="183927"/>
                      <a:pt x="754621" y="208530"/>
                      <a:pt x="724272" y="208530"/>
                    </a:cubicBezTo>
                    <a:lnTo>
                      <a:pt x="54952" y="208530"/>
                    </a:lnTo>
                    <a:cubicBezTo>
                      <a:pt x="40377" y="208530"/>
                      <a:pt x="26400" y="202740"/>
                      <a:pt x="16095" y="192435"/>
                    </a:cubicBezTo>
                    <a:cubicBezTo>
                      <a:pt x="5790" y="182129"/>
                      <a:pt x="0" y="168152"/>
                      <a:pt x="0" y="153578"/>
                    </a:cubicBezTo>
                    <a:lnTo>
                      <a:pt x="0" y="54952"/>
                    </a:lnTo>
                    <a:cubicBezTo>
                      <a:pt x="0" y="24603"/>
                      <a:pt x="24603" y="0"/>
                      <a:pt x="54952"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10" id="10"/>
              <p:cNvSpPr txBox="true"/>
              <p:nvPr/>
            </p:nvSpPr>
            <p:spPr>
              <a:xfrm>
                <a:off x="0" y="38100"/>
                <a:ext cx="779223" cy="170430"/>
              </a:xfrm>
              <a:prstGeom prst="rect">
                <a:avLst/>
              </a:prstGeom>
            </p:spPr>
            <p:txBody>
              <a:bodyPr anchor="ctr" rtlCol="false" tIns="50800" lIns="50800" bIns="50800" rIns="50800"/>
              <a:lstStyle/>
              <a:p>
                <a:pPr algn="ctr">
                  <a:lnSpc>
                    <a:spcPts val="1885"/>
                  </a:lnSpc>
                </a:pPr>
              </a:p>
            </p:txBody>
          </p:sp>
        </p:grpSp>
        <p:sp>
          <p:nvSpPr>
            <p:cNvPr name="TextBox 11" id="11"/>
            <p:cNvSpPr txBox="true"/>
            <p:nvPr/>
          </p:nvSpPr>
          <p:spPr>
            <a:xfrm rot="0">
              <a:off x="1086517" y="273679"/>
              <a:ext cx="1771785" cy="555949"/>
            </a:xfrm>
            <a:prstGeom prst="rect">
              <a:avLst/>
            </a:prstGeom>
          </p:spPr>
          <p:txBody>
            <a:bodyPr anchor="t" rtlCol="false" tIns="0" lIns="0" bIns="0" rIns="0">
              <a:spAutoFit/>
            </a:bodyPr>
            <a:lstStyle/>
            <a:p>
              <a:pPr algn="l">
                <a:lnSpc>
                  <a:spcPts val="3000"/>
                </a:lnSpc>
              </a:pPr>
              <a:r>
                <a:rPr lang="en-US" sz="2970">
                  <a:solidFill>
                    <a:srgbClr val="FFFFFF"/>
                  </a:solidFill>
                  <a:latin typeface="TT Norms"/>
                  <a:ea typeface="TT Norms"/>
                  <a:cs typeface="TT Norms"/>
                  <a:sym typeface="TT Norms"/>
                </a:rPr>
                <a:t>Before</a:t>
              </a:r>
            </a:p>
          </p:txBody>
        </p:sp>
      </p:grpSp>
      <p:grpSp>
        <p:nvGrpSpPr>
          <p:cNvPr name="Group 12" id="12"/>
          <p:cNvGrpSpPr/>
          <p:nvPr/>
        </p:nvGrpSpPr>
        <p:grpSpPr>
          <a:xfrm rot="0">
            <a:off x="5427254" y="1286561"/>
            <a:ext cx="6958466" cy="1294617"/>
            <a:chOff x="0" y="0"/>
            <a:chExt cx="9277954" cy="1726156"/>
          </a:xfrm>
        </p:grpSpPr>
        <p:sp>
          <p:nvSpPr>
            <p:cNvPr name="TextBox 13" id="13"/>
            <p:cNvSpPr txBox="true"/>
            <p:nvPr/>
          </p:nvSpPr>
          <p:spPr>
            <a:xfrm rot="0">
              <a:off x="0" y="152400"/>
              <a:ext cx="3258076" cy="1573756"/>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Data</a:t>
              </a:r>
            </a:p>
          </p:txBody>
        </p:sp>
        <p:sp>
          <p:nvSpPr>
            <p:cNvPr name="TextBox 14" id="14"/>
            <p:cNvSpPr txBox="true"/>
            <p:nvPr/>
          </p:nvSpPr>
          <p:spPr>
            <a:xfrm rot="0">
              <a:off x="3212696" y="152400"/>
              <a:ext cx="6065259" cy="1573756"/>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Cleaning</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324264" y="6981528"/>
            <a:ext cx="20461501" cy="7477748"/>
          </a:xfrm>
          <a:custGeom>
            <a:avLst/>
            <a:gdLst/>
            <a:ahLst/>
            <a:cxnLst/>
            <a:rect r="r" b="b" t="t" l="l"/>
            <a:pathLst>
              <a:path h="7477748" w="20461501">
                <a:moveTo>
                  <a:pt x="0" y="0"/>
                </a:moveTo>
                <a:lnTo>
                  <a:pt x="20461501" y="0"/>
                </a:lnTo>
                <a:lnTo>
                  <a:pt x="20461501" y="7477749"/>
                </a:lnTo>
                <a:lnTo>
                  <a:pt x="0" y="7477749"/>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13241885" y="7311086"/>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60010" y="2516737"/>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2185297"/>
            <a:ext cx="2958614" cy="815637"/>
            <a:chOff x="0" y="0"/>
            <a:chExt cx="3944819" cy="1087516"/>
          </a:xfrm>
        </p:grpSpPr>
        <p:grpSp>
          <p:nvGrpSpPr>
            <p:cNvPr name="Group 6" id="6"/>
            <p:cNvGrpSpPr/>
            <p:nvPr/>
          </p:nvGrpSpPr>
          <p:grpSpPr>
            <a:xfrm rot="0">
              <a:off x="0" y="0"/>
              <a:ext cx="3944819" cy="1087516"/>
              <a:chOff x="0" y="0"/>
              <a:chExt cx="779223" cy="214818"/>
            </a:xfrm>
          </p:grpSpPr>
          <p:sp>
            <p:nvSpPr>
              <p:cNvPr name="Freeform 7" id="7"/>
              <p:cNvSpPr/>
              <p:nvPr/>
            </p:nvSpPr>
            <p:spPr>
              <a:xfrm flipH="false" flipV="false" rot="0">
                <a:off x="0" y="0"/>
                <a:ext cx="779223" cy="214818"/>
              </a:xfrm>
              <a:custGeom>
                <a:avLst/>
                <a:gdLst/>
                <a:ahLst/>
                <a:cxnLst/>
                <a:rect r="r" b="b" t="t" l="l"/>
                <a:pathLst>
                  <a:path h="214818" w="779223">
                    <a:moveTo>
                      <a:pt x="54952" y="0"/>
                    </a:moveTo>
                    <a:lnTo>
                      <a:pt x="724272" y="0"/>
                    </a:lnTo>
                    <a:cubicBezTo>
                      <a:pt x="754621" y="0"/>
                      <a:pt x="779223" y="24603"/>
                      <a:pt x="779223" y="54952"/>
                    </a:cubicBezTo>
                    <a:lnTo>
                      <a:pt x="779223" y="159867"/>
                    </a:lnTo>
                    <a:cubicBezTo>
                      <a:pt x="779223" y="174441"/>
                      <a:pt x="773434" y="188418"/>
                      <a:pt x="763128" y="198723"/>
                    </a:cubicBezTo>
                    <a:cubicBezTo>
                      <a:pt x="752823" y="209029"/>
                      <a:pt x="738846" y="214818"/>
                      <a:pt x="724272" y="214818"/>
                    </a:cubicBezTo>
                    <a:lnTo>
                      <a:pt x="54952" y="214818"/>
                    </a:lnTo>
                    <a:cubicBezTo>
                      <a:pt x="24603" y="214818"/>
                      <a:pt x="0" y="190215"/>
                      <a:pt x="0" y="159867"/>
                    </a:cubicBezTo>
                    <a:lnTo>
                      <a:pt x="0" y="54952"/>
                    </a:lnTo>
                    <a:cubicBezTo>
                      <a:pt x="0" y="24603"/>
                      <a:pt x="24603" y="0"/>
                      <a:pt x="54952"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8" id="8"/>
              <p:cNvSpPr txBox="true"/>
              <p:nvPr/>
            </p:nvSpPr>
            <p:spPr>
              <a:xfrm>
                <a:off x="0" y="38100"/>
                <a:ext cx="779223" cy="176718"/>
              </a:xfrm>
              <a:prstGeom prst="rect">
                <a:avLst/>
              </a:prstGeom>
            </p:spPr>
            <p:txBody>
              <a:bodyPr anchor="ctr" rtlCol="false" tIns="50800" lIns="50800" bIns="50800" rIns="50800"/>
              <a:lstStyle/>
              <a:p>
                <a:pPr algn="ctr">
                  <a:lnSpc>
                    <a:spcPts val="1885"/>
                  </a:lnSpc>
                </a:pPr>
              </a:p>
            </p:txBody>
          </p:sp>
        </p:grpSp>
        <p:sp>
          <p:nvSpPr>
            <p:cNvPr name="TextBox 9" id="9"/>
            <p:cNvSpPr txBox="true"/>
            <p:nvPr/>
          </p:nvSpPr>
          <p:spPr>
            <a:xfrm rot="0">
              <a:off x="1314306" y="283204"/>
              <a:ext cx="1316207" cy="578259"/>
            </a:xfrm>
            <a:prstGeom prst="rect">
              <a:avLst/>
            </a:prstGeom>
          </p:spPr>
          <p:txBody>
            <a:bodyPr anchor="t" rtlCol="false" tIns="0" lIns="0" bIns="0" rIns="0">
              <a:spAutoFit/>
            </a:bodyPr>
            <a:lstStyle/>
            <a:p>
              <a:pPr algn="l">
                <a:lnSpc>
                  <a:spcPts val="3202"/>
                </a:lnSpc>
              </a:pPr>
              <a:r>
                <a:rPr lang="en-US" sz="3170">
                  <a:solidFill>
                    <a:srgbClr val="FFFFFF"/>
                  </a:solidFill>
                  <a:latin typeface="TT Norms"/>
                  <a:ea typeface="TT Norms"/>
                  <a:cs typeface="TT Norms"/>
                  <a:sym typeface="TT Norms"/>
                </a:rPr>
                <a:t>After</a:t>
              </a:r>
            </a:p>
          </p:txBody>
        </p:sp>
      </p:grpSp>
      <p:grpSp>
        <p:nvGrpSpPr>
          <p:cNvPr name="Group 10" id="10"/>
          <p:cNvGrpSpPr/>
          <p:nvPr/>
        </p:nvGrpSpPr>
        <p:grpSpPr>
          <a:xfrm rot="0">
            <a:off x="444994" y="3196134"/>
            <a:ext cx="17398012" cy="6558894"/>
            <a:chOff x="0" y="0"/>
            <a:chExt cx="2578691" cy="972143"/>
          </a:xfrm>
        </p:grpSpPr>
        <p:sp>
          <p:nvSpPr>
            <p:cNvPr name="Freeform 11" id="11"/>
            <p:cNvSpPr/>
            <p:nvPr/>
          </p:nvSpPr>
          <p:spPr>
            <a:xfrm flipH="false" flipV="false" rot="0">
              <a:off x="0" y="0"/>
              <a:ext cx="2578691" cy="972143"/>
            </a:xfrm>
            <a:custGeom>
              <a:avLst/>
              <a:gdLst/>
              <a:ahLst/>
              <a:cxnLst/>
              <a:rect r="r" b="b" t="t" l="l"/>
              <a:pathLst>
                <a:path h="972143" w="2578691">
                  <a:moveTo>
                    <a:pt x="10235" y="0"/>
                  </a:moveTo>
                  <a:lnTo>
                    <a:pt x="2568456" y="0"/>
                  </a:lnTo>
                  <a:cubicBezTo>
                    <a:pt x="2574109" y="0"/>
                    <a:pt x="2578691" y="4582"/>
                    <a:pt x="2578691" y="10235"/>
                  </a:cubicBezTo>
                  <a:lnTo>
                    <a:pt x="2578691" y="961908"/>
                  </a:lnTo>
                  <a:cubicBezTo>
                    <a:pt x="2578691" y="967561"/>
                    <a:pt x="2574109" y="972143"/>
                    <a:pt x="2568456" y="972143"/>
                  </a:cubicBezTo>
                  <a:lnTo>
                    <a:pt x="10235" y="972143"/>
                  </a:lnTo>
                  <a:cubicBezTo>
                    <a:pt x="4582" y="972143"/>
                    <a:pt x="0" y="967561"/>
                    <a:pt x="0" y="961908"/>
                  </a:cubicBezTo>
                  <a:lnTo>
                    <a:pt x="0" y="10235"/>
                  </a:lnTo>
                  <a:cubicBezTo>
                    <a:pt x="0" y="4582"/>
                    <a:pt x="4582" y="0"/>
                    <a:pt x="10235" y="0"/>
                  </a:cubicBezTo>
                  <a:close/>
                </a:path>
              </a:pathLst>
            </a:custGeom>
            <a:blipFill>
              <a:blip r:embed="rId5"/>
              <a:stretch>
                <a:fillRect l="0" t="-150" r="0" b="-150"/>
              </a:stretch>
            </a:blipFill>
            <a:ln w="57150" cap="rnd">
              <a:solidFill>
                <a:srgbClr val="FFFFFF"/>
              </a:solidFill>
              <a:prstDash val="solid"/>
              <a:round/>
            </a:ln>
          </p:spPr>
        </p:sp>
      </p:grpSp>
      <p:grpSp>
        <p:nvGrpSpPr>
          <p:cNvPr name="Group 12" id="12"/>
          <p:cNvGrpSpPr/>
          <p:nvPr/>
        </p:nvGrpSpPr>
        <p:grpSpPr>
          <a:xfrm rot="0">
            <a:off x="5427254" y="1286561"/>
            <a:ext cx="6958466" cy="1294617"/>
            <a:chOff x="0" y="0"/>
            <a:chExt cx="9277954" cy="1726156"/>
          </a:xfrm>
        </p:grpSpPr>
        <p:sp>
          <p:nvSpPr>
            <p:cNvPr name="TextBox 13" id="13"/>
            <p:cNvSpPr txBox="true"/>
            <p:nvPr/>
          </p:nvSpPr>
          <p:spPr>
            <a:xfrm rot="0">
              <a:off x="0" y="152400"/>
              <a:ext cx="3258076" cy="1573756"/>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Data</a:t>
              </a:r>
            </a:p>
          </p:txBody>
        </p:sp>
        <p:sp>
          <p:nvSpPr>
            <p:cNvPr name="TextBox 14" id="14"/>
            <p:cNvSpPr txBox="true"/>
            <p:nvPr/>
          </p:nvSpPr>
          <p:spPr>
            <a:xfrm rot="0">
              <a:off x="3212696" y="152400"/>
              <a:ext cx="6065259" cy="1573756"/>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Cleaning</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324264" y="6981528"/>
            <a:ext cx="20461501" cy="7477748"/>
          </a:xfrm>
          <a:custGeom>
            <a:avLst/>
            <a:gdLst/>
            <a:ahLst/>
            <a:cxnLst/>
            <a:rect r="r" b="b" t="t" l="l"/>
            <a:pathLst>
              <a:path h="7477748" w="20461501">
                <a:moveTo>
                  <a:pt x="0" y="0"/>
                </a:moveTo>
                <a:lnTo>
                  <a:pt x="20461501" y="0"/>
                </a:lnTo>
                <a:lnTo>
                  <a:pt x="20461501" y="7477749"/>
                </a:lnTo>
                <a:lnTo>
                  <a:pt x="0" y="7477749"/>
                </a:lnTo>
                <a:lnTo>
                  <a:pt x="0" y="0"/>
                </a:lnTo>
                <a:close/>
              </a:path>
            </a:pathLst>
          </a:custGeom>
          <a:blipFill>
            <a:blip r:embed="rId2">
              <a:alphaModFix amt="44999"/>
            </a:blip>
            <a:stretch>
              <a:fillRect l="0" t="0" r="0" b="0"/>
            </a:stretch>
          </a:blipFill>
        </p:spPr>
      </p:sp>
      <p:sp>
        <p:nvSpPr>
          <p:cNvPr name="Freeform 3" id="3"/>
          <p:cNvSpPr/>
          <p:nvPr/>
        </p:nvSpPr>
        <p:spPr>
          <a:xfrm flipH="false" flipV="false" rot="0">
            <a:off x="13241885" y="7311086"/>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60010" y="2516737"/>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1028699"/>
            <a:ext cx="9832817" cy="8497681"/>
            <a:chOff x="0" y="0"/>
            <a:chExt cx="1188173" cy="1026839"/>
          </a:xfrm>
        </p:grpSpPr>
        <p:sp>
          <p:nvSpPr>
            <p:cNvPr name="Freeform 6" id="6"/>
            <p:cNvSpPr/>
            <p:nvPr/>
          </p:nvSpPr>
          <p:spPr>
            <a:xfrm flipH="false" flipV="false" rot="0">
              <a:off x="0" y="0"/>
              <a:ext cx="1188173" cy="1026839"/>
            </a:xfrm>
            <a:custGeom>
              <a:avLst/>
              <a:gdLst/>
              <a:ahLst/>
              <a:cxnLst/>
              <a:rect r="r" b="b" t="t" l="l"/>
              <a:pathLst>
                <a:path h="1026839" w="1188173">
                  <a:moveTo>
                    <a:pt x="18109" y="0"/>
                  </a:moveTo>
                  <a:lnTo>
                    <a:pt x="1170064" y="0"/>
                  </a:lnTo>
                  <a:cubicBezTo>
                    <a:pt x="1180065" y="0"/>
                    <a:pt x="1188173" y="8108"/>
                    <a:pt x="1188173" y="18109"/>
                  </a:cubicBezTo>
                  <a:lnTo>
                    <a:pt x="1188173" y="1008729"/>
                  </a:lnTo>
                  <a:cubicBezTo>
                    <a:pt x="1188173" y="1018731"/>
                    <a:pt x="1180065" y="1026839"/>
                    <a:pt x="1170064" y="1026839"/>
                  </a:cubicBezTo>
                  <a:lnTo>
                    <a:pt x="18109" y="1026839"/>
                  </a:lnTo>
                  <a:cubicBezTo>
                    <a:pt x="8108" y="1026839"/>
                    <a:pt x="0" y="1018731"/>
                    <a:pt x="0" y="1008729"/>
                  </a:cubicBezTo>
                  <a:lnTo>
                    <a:pt x="0" y="18109"/>
                  </a:lnTo>
                  <a:cubicBezTo>
                    <a:pt x="0" y="8108"/>
                    <a:pt x="8108" y="0"/>
                    <a:pt x="18109" y="0"/>
                  </a:cubicBezTo>
                  <a:close/>
                </a:path>
              </a:pathLst>
            </a:custGeom>
            <a:blipFill>
              <a:blip r:embed="rId5"/>
              <a:stretch>
                <a:fillRect l="0" t="-320" r="0" b="-320"/>
              </a:stretch>
            </a:blipFill>
            <a:ln w="57150" cap="rnd">
              <a:solidFill>
                <a:srgbClr val="FFFFFF"/>
              </a:solidFill>
              <a:prstDash val="solid"/>
              <a:round/>
            </a:ln>
          </p:spPr>
        </p:sp>
      </p:grpSp>
      <p:sp>
        <p:nvSpPr>
          <p:cNvPr name="TextBox 7" id="7"/>
          <p:cNvSpPr txBox="true"/>
          <p:nvPr/>
        </p:nvSpPr>
        <p:spPr>
          <a:xfrm rot="0">
            <a:off x="11485308" y="3307973"/>
            <a:ext cx="2443557" cy="1142217"/>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Data</a:t>
            </a:r>
          </a:p>
        </p:txBody>
      </p:sp>
      <p:sp>
        <p:nvSpPr>
          <p:cNvPr name="TextBox 8" id="8"/>
          <p:cNvSpPr txBox="true"/>
          <p:nvPr/>
        </p:nvSpPr>
        <p:spPr>
          <a:xfrm rot="0">
            <a:off x="12182199" y="4602590"/>
            <a:ext cx="5115201" cy="1142217"/>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Modeling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DAHDsZQGLPI</dc:identifier>
  <dcterms:modified xsi:type="dcterms:W3CDTF">2011-08-01T06:04:30Z</dcterms:modified>
  <cp:revision>1</cp:revision>
  <dc:title>supply chain</dc:title>
</cp:coreProperties>
</file>